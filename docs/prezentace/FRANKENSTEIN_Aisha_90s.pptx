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0:00–0:08; délka 90 sekund celkem]
Jsme tým Aisha. FRANKENSTEIN mění běžné zadání v ověřený kontrakt pro agenta — a učí se z každého běhu.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0:08–0:20; délka 90 sekund celkem]
Surový prompt často nemá přesný cíl ani hranice. Model pak může domýšlet fakta, odbočit od zadání nebo odevzdat neověřenou odpověď. FR převádí nejistoty na kontrolovatelné podmínky.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0:20–0:38; délka 90 sekund celkem]
FR uchová zadání, analyzuje deset hledisek a nezávisle audituje cíl. Brána A až D rozhodne o postupu či upřesnění. Cíl zamkne do kontraktu. Algoritmus z něj sestaví prompt pro vykonávacího agenta — dnes Sonnet, cílově lokální model. Výsledek projde nezávislou verifikací.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0:38–0:50; délka 90 sekund celkem]
Brány hlídají tři věci: cíl se po cestě nemění, oprávnění nelze překročit a úspěch musí být doložen. Náš princip zní: Algoritmy řídí, AI interpretuje a tvoří.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0:50–1:08; délka 90 sekund celkem]
FR vyhodnocuje, která analytická hlediska pomáhají určitému typu úloh. Navrhne jinou sestavu a dovolí řízené porovnání proti témuž zamčenému cíli. Opakované výsledky budují důvěryhodnou zkušenost. Učí se postup, nikoli pravomoci.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1:08–1:20; délka 90 sekund celkem]
Zkušenosti ukládáme do vlastní Knowledge Base. Přes Git sdílí celý tým charakteristiky úloh, analytické sestavy i výsledky srovnání. Předáváme znalost metody, ne celé zadání ani odpověď.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[ČAS 1:20–1:30; délka 90 sekund celkem]
Máme verzi 0.4 a všech devadesát tři deterministických testů prochází. Dalším krokem je nasazení lokálního modelu a řízené experimenty. Děkujeme, tým Aisha.
[Sources]
https://drive.google.com/file/d/1WSzNQK18rG9qR04ucyRwgnsqPfoF9JtH/view
https://github.com/evymo/frankie/blob/main/docs/ARCHITEKTURA-v0.4.md
https://github.com/evymo/frankie/blob/main/README.md
https://github.com/evymo/frankie/blob/main/knowledge/README.md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TÝM AISHA  /  PŘEDSTAVENÍ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7726680" y="987552"/>
            <a:ext cx="777240" cy="-29260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987552"/>
            <a:ext cx="-438912" cy="9326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26680" y="987552"/>
            <a:ext cx="320040" cy="98755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694944"/>
            <a:ext cx="960120" cy="11887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0" y="694944"/>
            <a:ext cx="539496" cy="87782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694944"/>
            <a:ext cx="-457200" cy="128016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64040" y="813816"/>
            <a:ext cx="822960" cy="-10058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64040" y="813816"/>
            <a:ext cx="-420624" cy="75895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64040" y="813816"/>
            <a:ext cx="466344" cy="1060704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87000" y="713232"/>
            <a:ext cx="877824" cy="42976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87000" y="713232"/>
            <a:ext cx="-356616" cy="1161288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87000" y="713232"/>
            <a:ext cx="521208" cy="1271016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64824" y="1143000"/>
            <a:ext cx="-356616" cy="84124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64824" y="1143000"/>
            <a:ext cx="347472" cy="132588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164824" y="1143000"/>
            <a:ext cx="-1234440" cy="73152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87768" y="1920240"/>
            <a:ext cx="758952" cy="5486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87768" y="1920240"/>
            <a:ext cx="411480" cy="97840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46720" y="1975104"/>
            <a:ext cx="-347472" cy="92354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46720" y="1975104"/>
            <a:ext cx="493776" cy="94183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46720" y="1975104"/>
            <a:ext cx="996696" cy="-402336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43416" y="1572768"/>
            <a:ext cx="886968" cy="30175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43416" y="1572768"/>
            <a:ext cx="329184" cy="109728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43416" y="1572768"/>
            <a:ext cx="-502920" cy="1344168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930384" y="1874520"/>
            <a:ext cx="877824" cy="10972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30384" y="1874520"/>
            <a:ext cx="-557784" cy="79552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30384" y="1874520"/>
            <a:ext cx="448056" cy="1078992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08208" y="1984248"/>
            <a:ext cx="704088" cy="48463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08208" y="1984248"/>
            <a:ext cx="-429768" cy="96926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512296" y="2468880"/>
            <a:ext cx="-155448" cy="103327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512296" y="2468880"/>
            <a:ext cx="-1133856" cy="484632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99248" y="2898648"/>
            <a:ext cx="841248" cy="182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99248" y="2898648"/>
            <a:ext cx="-338328" cy="83210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699248" y="2898648"/>
            <a:ext cx="713232" cy="1088136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40496" y="2916936"/>
            <a:ext cx="832104" cy="-2468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40496" y="2916936"/>
            <a:ext cx="-128016" cy="106984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40496" y="2916936"/>
            <a:ext cx="704088" cy="850392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72600" y="2670048"/>
            <a:ext cx="1005840" cy="28346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72600" y="2670048"/>
            <a:ext cx="-128016" cy="109728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78440" y="2953512"/>
            <a:ext cx="-228600" cy="102412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78440" y="2953512"/>
            <a:ext cx="978408" cy="54864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378440" y="2953512"/>
            <a:ext cx="-1133856" cy="813816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356848" y="3502152"/>
            <a:ext cx="-219456" cy="80467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356848" y="3502152"/>
            <a:ext cx="-1207008" cy="475488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60920" y="3730752"/>
            <a:ext cx="1051560" cy="25603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60920" y="3730752"/>
            <a:ext cx="521208" cy="1225296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12480" y="3986784"/>
            <a:ext cx="502920" cy="66751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12480" y="3986784"/>
            <a:ext cx="832104" cy="-219456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412480" y="3986784"/>
            <a:ext cx="-530352" cy="969264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44584" y="3767328"/>
            <a:ext cx="905256" cy="21031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244584" y="3767328"/>
            <a:ext cx="-329184" cy="88696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44584" y="3767328"/>
            <a:ext cx="402336" cy="118872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149840" y="3977640"/>
            <a:ext cx="987552" cy="32918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49840" y="3977640"/>
            <a:ext cx="-502920" cy="978408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49840" y="3977640"/>
            <a:ext cx="-1234440" cy="676656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137392" y="4306824"/>
            <a:ext cx="384048" cy="88696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137392" y="4306824"/>
            <a:ext cx="-420624" cy="96926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882128" y="4956048"/>
            <a:ext cx="347472" cy="85039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82128" y="4956048"/>
            <a:ext cx="1033272" cy="-30175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15400" y="4654296"/>
            <a:ext cx="731520" cy="30175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15400" y="4654296"/>
            <a:ext cx="274320" cy="1014984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15400" y="4654296"/>
            <a:ext cx="-685800" cy="1152144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46920" y="4956048"/>
            <a:ext cx="-457200" cy="71323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646920" y="4956048"/>
            <a:ext cx="457200" cy="960120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46920" y="4956048"/>
            <a:ext cx="1069848" cy="320040"/>
          </a:xfrm>
          <a:prstGeom prst="line">
            <a:avLst/>
          </a:prstGeom>
          <a:noFill/>
          <a:ln w="1016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716768" y="5276088"/>
            <a:ext cx="420624" cy="621792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716768" y="5276088"/>
            <a:ext cx="804672" cy="-82296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716768" y="5276088"/>
            <a:ext cx="-612648" cy="640080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521440" y="5193792"/>
            <a:ext cx="-384048" cy="7040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29600" y="5806440"/>
            <a:ext cx="960120" cy="-137160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189720" y="5669280"/>
            <a:ext cx="914400" cy="2468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104120" y="5916168"/>
            <a:ext cx="1033272" cy="-18288"/>
          </a:xfrm>
          <a:prstGeom prst="line">
            <a:avLst/>
          </a:prstGeom>
          <a:noFill/>
          <a:ln w="13970">
            <a:solidFill>
              <a:srgbClr val="428BFF">
                <a:alpha val="3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287768" y="1252728"/>
            <a:ext cx="4352544" cy="4352544"/>
          </a:xfrm>
          <a:prstGeom prst="ellipse">
            <a:avLst/>
          </a:prstGeom>
          <a:solidFill>
            <a:srgbClr val="071223">
              <a:alpha val="0"/>
            </a:srgbClr>
          </a:solidFill>
          <a:ln w="11430">
            <a:solidFill>
              <a:srgbClr val="428BFF">
                <a:alpha val="17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781544" y="1746504"/>
            <a:ext cx="3364992" cy="3364992"/>
          </a:xfrm>
          <a:prstGeom prst="ellipse">
            <a:avLst/>
          </a:prstGeom>
          <a:solidFill>
            <a:srgbClr val="071223">
              <a:alpha val="0"/>
            </a:srgbClr>
          </a:solidFill>
          <a:ln w="15240">
            <a:solidFill>
              <a:srgbClr val="428BFF">
                <a:alpha val="24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421624" y="2386584"/>
            <a:ext cx="2084832" cy="2084832"/>
          </a:xfrm>
          <a:prstGeom prst="ellipse">
            <a:avLst/>
          </a:prstGeom>
          <a:solidFill>
            <a:srgbClr val="071223">
              <a:alpha val="0"/>
            </a:srgbClr>
          </a:solidFill>
          <a:ln w="8890">
            <a:solidFill>
              <a:srgbClr val="67DBFF">
                <a:alpha val="23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662672" y="923544"/>
            <a:ext cx="128016" cy="128016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475574" y="666598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435694" y="785470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58654" y="684886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120018" y="1098194"/>
            <a:ext cx="89611" cy="89611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259422" y="189189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82712" y="1911096"/>
            <a:ext cx="128016" cy="128016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15070" y="154442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885578" y="1829714"/>
            <a:ext cx="89611" cy="89611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779862" y="195590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483950" y="244053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70902" y="287030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76488" y="2852928"/>
            <a:ext cx="128016" cy="128016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344254" y="264170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350094" y="2925166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328502" y="3473806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316114" y="3685946"/>
            <a:ext cx="89611" cy="89611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84134" y="3958438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180576" y="3703320"/>
            <a:ext cx="128016" cy="128016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121494" y="394929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092586" y="4262018"/>
            <a:ext cx="89611" cy="89611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53782" y="492770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887054" y="4625950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18574" y="4927702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52760" y="5212080"/>
            <a:ext cx="128016" cy="128016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1493094" y="5165446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201254" y="577809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161374" y="564093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059314" y="5871362"/>
            <a:ext cx="89611" cy="89611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1109046" y="5869534"/>
            <a:ext cx="56693" cy="56693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40080" y="1344168"/>
            <a:ext cx="73152" cy="2395728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22960" y="1435608"/>
            <a:ext cx="4754880" cy="420624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41832" y="143560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6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AUTONOMNÍ AGENT  ·  ADAPTIVNÍ ANALÝZA</a:t>
            </a:r>
            <a:endParaRPr lang="en-US" sz="1260" dirty="0"/>
          </a:p>
        </p:txBody>
      </p:sp>
      <p:sp>
        <p:nvSpPr>
          <p:cNvPr id="155" name="Text 153"/>
          <p:cNvSpPr/>
          <p:nvPr/>
        </p:nvSpPr>
        <p:spPr>
          <a:xfrm>
            <a:off x="804672" y="1993392"/>
            <a:ext cx="10744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spc="-16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FRANKENSTEIN</a:t>
            </a:r>
            <a:endParaRPr lang="en-US" sz="6000" dirty="0"/>
          </a:p>
        </p:txBody>
      </p:sp>
      <p:sp>
        <p:nvSpPr>
          <p:cNvPr id="156" name="Text 154"/>
          <p:cNvSpPr/>
          <p:nvPr/>
        </p:nvSpPr>
        <p:spPr>
          <a:xfrm>
            <a:off x="822960" y="304495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Ze zadání vzniká</a:t>
            </a:r>
            <a:endParaRPr lang="en-US" sz="3000" dirty="0"/>
          </a:p>
        </p:txBody>
      </p:sp>
      <p:sp>
        <p:nvSpPr>
          <p:cNvPr id="157" name="Text 155"/>
          <p:cNvSpPr/>
          <p:nvPr/>
        </p:nvSpPr>
        <p:spPr>
          <a:xfrm>
            <a:off x="822960" y="3493008"/>
            <a:ext cx="8869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67D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ověřený kontrakt.</a:t>
            </a:r>
            <a:endParaRPr lang="en-US" sz="3400" dirty="0"/>
          </a:p>
        </p:txBody>
      </p:sp>
      <p:sp>
        <p:nvSpPr>
          <p:cNvPr id="158" name="Text 156"/>
          <p:cNvSpPr/>
          <p:nvPr/>
        </p:nvSpPr>
        <p:spPr>
          <a:xfrm>
            <a:off x="841248" y="4233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Systém, který zdokonaluje vlastní postup analýzy.</a:t>
            </a:r>
            <a:endParaRPr lang="en-US" sz="1900" dirty="0"/>
          </a:p>
        </p:txBody>
      </p:sp>
      <p:sp>
        <p:nvSpPr>
          <p:cNvPr id="159" name="Shape 157"/>
          <p:cNvSpPr/>
          <p:nvPr/>
        </p:nvSpPr>
        <p:spPr>
          <a:xfrm>
            <a:off x="640080" y="5330952"/>
            <a:ext cx="10899648" cy="905256"/>
          </a:xfrm>
          <a:prstGeom prst="roundRect">
            <a:avLst>
              <a:gd name="adj" fmla="val 16162"/>
            </a:avLst>
          </a:prstGeom>
          <a:solidFill>
            <a:srgbClr val="11243B">
              <a:alpha val="80000"/>
            </a:srgbClr>
          </a:solidFill>
          <a:ln w="8890">
            <a:solidFill>
              <a:srgbClr val="2A456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9224" y="5340096"/>
            <a:ext cx="68580" cy="877824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86968" y="549554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spc="18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</a:t>
            </a:r>
            <a:endParaRPr lang="en-US" sz="1500" dirty="0"/>
          </a:p>
        </p:txBody>
      </p:sp>
      <p:sp>
        <p:nvSpPr>
          <p:cNvPr id="162" name="Shape 160"/>
          <p:cNvSpPr/>
          <p:nvPr/>
        </p:nvSpPr>
        <p:spPr>
          <a:xfrm>
            <a:off x="2002536" y="5504688"/>
            <a:ext cx="0" cy="539496"/>
          </a:xfrm>
          <a:prstGeom prst="line">
            <a:avLst/>
          </a:prstGeom>
          <a:noFill/>
          <a:ln w="12700">
            <a:solidFill>
              <a:srgbClr val="2A4567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258568" y="54498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Zdeněk Bělka</a:t>
            </a:r>
            <a:endParaRPr lang="en-US" sz="1620" dirty="0"/>
          </a:p>
        </p:txBody>
      </p:sp>
      <p:sp>
        <p:nvSpPr>
          <p:cNvPr id="164" name="Text 162"/>
          <p:cNvSpPr/>
          <p:nvPr/>
        </p:nvSpPr>
        <p:spPr>
          <a:xfrm>
            <a:off x="4956048" y="5449824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Ladislav Habásko</a:t>
            </a:r>
            <a:endParaRPr lang="en-US" sz="1620" dirty="0"/>
          </a:p>
        </p:txBody>
      </p:sp>
      <p:sp>
        <p:nvSpPr>
          <p:cNvPr id="165" name="Text 163"/>
          <p:cNvSpPr/>
          <p:nvPr/>
        </p:nvSpPr>
        <p:spPr>
          <a:xfrm>
            <a:off x="8339328" y="54498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 Landa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/  PROČ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40080" y="786384"/>
            <a:ext cx="2295144" cy="32004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78638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VÝZVA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1197864"/>
            <a:ext cx="10991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Surový prompt není kontrakt.</a:t>
            </a:r>
            <a:endParaRPr lang="en-US" sz="3400" dirty="0"/>
          </a:p>
        </p:txBody>
      </p:sp>
      <p:sp>
        <p:nvSpPr>
          <p:cNvPr id="51" name="Shape 49"/>
          <p:cNvSpPr/>
          <p:nvPr/>
        </p:nvSpPr>
        <p:spPr>
          <a:xfrm>
            <a:off x="640080" y="2002536"/>
            <a:ext cx="4800600" cy="3547872"/>
          </a:xfrm>
          <a:prstGeom prst="roundRect">
            <a:avLst>
              <a:gd name="adj" fmla="val 5412"/>
            </a:avLst>
          </a:prstGeom>
          <a:solidFill>
            <a:srgbClr val="11243B">
              <a:alpha val="88000"/>
            </a:srgbClr>
          </a:solidFill>
          <a:ln w="12065">
            <a:solidFill>
              <a:srgbClr val="F5B9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100" kern="0" dirty="0">
                <a:solidFill>
                  <a:srgbClr val="F5B9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PŘED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886968" y="27066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Neúplné zadání</a:t>
            </a:r>
            <a:endParaRPr lang="en-US" sz="2300" dirty="0"/>
          </a:p>
        </p:txBody>
      </p:sp>
      <p:sp>
        <p:nvSpPr>
          <p:cNvPr id="54" name="Shape 52"/>
          <p:cNvSpPr/>
          <p:nvPr/>
        </p:nvSpPr>
        <p:spPr>
          <a:xfrm rot="-420000">
            <a:off x="978408" y="3300984"/>
            <a:ext cx="2002536" cy="585216"/>
          </a:xfrm>
          <a:prstGeom prst="roundRect">
            <a:avLst>
              <a:gd name="adj" fmla="val 20313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 rot="-420000">
            <a:off x="1097280" y="3337560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6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je vlastně cíl?</a:t>
            </a:r>
            <a:endParaRPr lang="en-US" sz="1360" dirty="0"/>
          </a:p>
        </p:txBody>
      </p:sp>
      <p:sp>
        <p:nvSpPr>
          <p:cNvPr id="56" name="Shape 54"/>
          <p:cNvSpPr/>
          <p:nvPr/>
        </p:nvSpPr>
        <p:spPr>
          <a:xfrm rot="300000">
            <a:off x="2834640" y="3355848"/>
            <a:ext cx="2084832" cy="585216"/>
          </a:xfrm>
          <a:prstGeom prst="roundRect">
            <a:avLst>
              <a:gd name="adj" fmla="val 20313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 rot="300000">
            <a:off x="2953512" y="3392424"/>
            <a:ext cx="1856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6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Jaký má být výstup?</a:t>
            </a:r>
            <a:endParaRPr lang="en-US" sz="1360" dirty="0"/>
          </a:p>
        </p:txBody>
      </p:sp>
      <p:sp>
        <p:nvSpPr>
          <p:cNvPr id="58" name="Shape 56"/>
          <p:cNvSpPr/>
          <p:nvPr/>
        </p:nvSpPr>
        <p:spPr>
          <a:xfrm rot="420000">
            <a:off x="1261872" y="4197096"/>
            <a:ext cx="1618488" cy="512064"/>
          </a:xfrm>
          <a:prstGeom prst="roundRect">
            <a:avLst>
              <a:gd name="adj" fmla="val 23214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 rot="420000">
            <a:off x="1380744" y="4233672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6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Ověřeno?</a:t>
            </a:r>
            <a:endParaRPr lang="en-US" sz="1360" dirty="0"/>
          </a:p>
        </p:txBody>
      </p:sp>
      <p:sp>
        <p:nvSpPr>
          <p:cNvPr id="60" name="Shape 58"/>
          <p:cNvSpPr/>
          <p:nvPr/>
        </p:nvSpPr>
        <p:spPr>
          <a:xfrm rot="-360000">
            <a:off x="3191256" y="4242816"/>
            <a:ext cx="1627632" cy="530352"/>
          </a:xfrm>
          <a:prstGeom prst="roundRect">
            <a:avLst>
              <a:gd name="adj" fmla="val 22414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 rot="-360000">
            <a:off x="3310128" y="427939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6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Smí to udělat?</a:t>
            </a:r>
            <a:endParaRPr lang="en-US" sz="1360" dirty="0"/>
          </a:p>
        </p:txBody>
      </p:sp>
      <p:sp>
        <p:nvSpPr>
          <p:cNvPr id="62" name="Text 60"/>
          <p:cNvSpPr/>
          <p:nvPr/>
        </p:nvSpPr>
        <p:spPr>
          <a:xfrm>
            <a:off x="923544" y="506577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30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posun cíle   •   domněnky   •   bez důkazů</a:t>
            </a:r>
            <a:endParaRPr lang="en-US" sz="1430" dirty="0"/>
          </a:p>
        </p:txBody>
      </p:sp>
      <p:sp>
        <p:nvSpPr>
          <p:cNvPr id="63" name="Shape 61"/>
          <p:cNvSpPr/>
          <p:nvPr/>
        </p:nvSpPr>
        <p:spPr>
          <a:xfrm>
            <a:off x="5660136" y="3328416"/>
            <a:ext cx="877824" cy="877824"/>
          </a:xfrm>
          <a:prstGeom prst="ellipse">
            <a:avLst/>
          </a:prstGeom>
          <a:solidFill>
            <a:srgbClr val="428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50992" y="335584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712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600" dirty="0"/>
          </a:p>
        </p:txBody>
      </p:sp>
      <p:sp>
        <p:nvSpPr>
          <p:cNvPr id="65" name="Shape 63"/>
          <p:cNvSpPr/>
          <p:nvPr/>
        </p:nvSpPr>
        <p:spPr>
          <a:xfrm>
            <a:off x="6729984" y="2002536"/>
            <a:ext cx="4837176" cy="3547872"/>
          </a:xfrm>
          <a:prstGeom prst="roundRect">
            <a:avLst>
              <a:gd name="adj" fmla="val 5412"/>
            </a:avLst>
          </a:prstGeom>
          <a:solidFill>
            <a:srgbClr val="11243B">
              <a:alpha val="92000"/>
            </a:srgbClr>
          </a:solidFill>
          <a:ln w="13970">
            <a:solidFill>
              <a:srgbClr val="428B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86016" y="22128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6986016" y="27066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Contract</a:t>
            </a:r>
            <a:endParaRPr lang="en-US" sz="2200" dirty="0"/>
          </a:p>
        </p:txBody>
      </p:sp>
      <p:sp>
        <p:nvSpPr>
          <p:cNvPr id="68" name="Shape 66"/>
          <p:cNvSpPr/>
          <p:nvPr/>
        </p:nvSpPr>
        <p:spPr>
          <a:xfrm>
            <a:off x="7022592" y="3246120"/>
            <a:ext cx="4215384" cy="521208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78040" y="3319272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744968" y="3319272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CÍL</a:t>
            </a:r>
            <a:endParaRPr lang="en-US" sz="1650" dirty="0"/>
          </a:p>
        </p:txBody>
      </p:sp>
      <p:sp>
        <p:nvSpPr>
          <p:cNvPr id="71" name="Text 69"/>
          <p:cNvSpPr/>
          <p:nvPr/>
        </p:nvSpPr>
        <p:spPr>
          <a:xfrm>
            <a:off x="8988552" y="3319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přesně splnit</a:t>
            </a:r>
            <a:endParaRPr lang="en-US" sz="1380" dirty="0"/>
          </a:p>
        </p:txBody>
      </p:sp>
      <p:sp>
        <p:nvSpPr>
          <p:cNvPr id="72" name="Shape 70"/>
          <p:cNvSpPr/>
          <p:nvPr/>
        </p:nvSpPr>
        <p:spPr>
          <a:xfrm>
            <a:off x="7022592" y="3867912"/>
            <a:ext cx="4215384" cy="521208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3941064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744968" y="394106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HRANICE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8988552" y="3941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je povoleno</a:t>
            </a:r>
            <a:endParaRPr lang="en-US" sz="1380" dirty="0"/>
          </a:p>
        </p:txBody>
      </p:sp>
      <p:sp>
        <p:nvSpPr>
          <p:cNvPr id="76" name="Shape 74"/>
          <p:cNvSpPr/>
          <p:nvPr/>
        </p:nvSpPr>
        <p:spPr>
          <a:xfrm>
            <a:off x="7022592" y="4489704"/>
            <a:ext cx="4215384" cy="521208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4562856"/>
            <a:ext cx="4754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744968" y="456285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DŮKAZ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8988552" y="45628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8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ověřit výsledek</a:t>
            </a:r>
            <a:endParaRPr lang="en-US" sz="1380" dirty="0"/>
          </a:p>
        </p:txBody>
      </p:sp>
      <p:sp>
        <p:nvSpPr>
          <p:cNvPr id="80" name="Shape 78"/>
          <p:cNvSpPr/>
          <p:nvPr/>
        </p:nvSpPr>
        <p:spPr>
          <a:xfrm>
            <a:off x="10853928" y="5129784"/>
            <a:ext cx="219456" cy="219456"/>
          </a:xfrm>
          <a:prstGeom prst="ellipse">
            <a:avLst/>
          </a:prstGeom>
          <a:solidFill>
            <a:srgbClr val="071223">
              <a:alpha val="0"/>
            </a:srgbClr>
          </a:solidFill>
          <a:ln w="18415">
            <a:solidFill>
              <a:srgbClr val="6AE7C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12450" y="5244998"/>
            <a:ext cx="45720" cy="44806"/>
          </a:xfrm>
          <a:prstGeom prst="line">
            <a:avLst/>
          </a:prstGeom>
          <a:noFill/>
          <a:ln w="22860">
            <a:solidFill>
              <a:srgbClr val="6AE7C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958170" y="5289804"/>
            <a:ext cx="74981" cy="-106985"/>
          </a:xfrm>
          <a:prstGeom prst="line">
            <a:avLst/>
          </a:prstGeom>
          <a:noFill/>
          <a:ln w="22860">
            <a:solidFill>
              <a:srgbClr val="6AE7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595274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Nejistotu převádíme na ověřitelné podmínky.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/  PROCES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40080" y="786384"/>
            <a:ext cx="2496312" cy="32004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7863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PRACOVNÍ CYKLUS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1197864"/>
            <a:ext cx="10991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Osm kroků. Jeden zamčený cíl.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685800" y="1975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spc="13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PŘÍPRAVA A VYJASNĚNÍ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685800" y="4242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spc="13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PROVEDENÍ A KONTROLA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3337560" y="2971800"/>
            <a:ext cx="12801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199632" y="2971800"/>
            <a:ext cx="12801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061704" y="2971800"/>
            <a:ext cx="12801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1878056" y="3035808"/>
            <a:ext cx="54864" cy="0"/>
          </a:xfrm>
          <a:prstGeom prst="line">
            <a:avLst/>
          </a:prstGeom>
          <a:noFill/>
          <a:ln w="20320">
            <a:solidFill>
              <a:srgbClr val="428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932920" y="3035808"/>
            <a:ext cx="0" cy="2221992"/>
          </a:xfrm>
          <a:prstGeom prst="line">
            <a:avLst/>
          </a:prstGeom>
          <a:noFill/>
          <a:ln w="20320">
            <a:solidFill>
              <a:srgbClr val="428B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932920" y="5257800"/>
            <a:ext cx="-54864" cy="0"/>
          </a:xfrm>
          <a:prstGeom prst="line">
            <a:avLst/>
          </a:prstGeom>
          <a:noFill/>
          <a:ln w="2286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180576" y="5202936"/>
            <a:ext cx="-17373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318504" y="5202936"/>
            <a:ext cx="-17373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456432" y="5202936"/>
            <a:ext cx="-173736" cy="0"/>
          </a:xfrm>
          <a:prstGeom prst="line">
            <a:avLst/>
          </a:prstGeom>
          <a:noFill/>
          <a:ln w="25400">
            <a:solidFill>
              <a:srgbClr val="428BF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58368" y="2304288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3816" y="2450592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" y="24597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70" dirty="0"/>
          </a:p>
        </p:txBody>
      </p:sp>
      <p:sp>
        <p:nvSpPr>
          <p:cNvPr id="65" name="Text 63"/>
          <p:cNvSpPr/>
          <p:nvPr/>
        </p:nvSpPr>
        <p:spPr>
          <a:xfrm>
            <a:off x="822960" y="28529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ZADÁNÍ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>
            <a:off x="822960" y="328269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originál beze změny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520440" y="2304288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75888" y="2450592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75888" y="24597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70" dirty="0"/>
          </a:p>
        </p:txBody>
      </p:sp>
      <p:sp>
        <p:nvSpPr>
          <p:cNvPr id="70" name="Shape 68"/>
          <p:cNvSpPr/>
          <p:nvPr/>
        </p:nvSpPr>
        <p:spPr>
          <a:xfrm>
            <a:off x="5527548" y="2500884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85032" y="28529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 HLEDISEK</a:t>
            </a:r>
            <a:endParaRPr lang="en-US" sz="1900" dirty="0"/>
          </a:p>
        </p:txBody>
      </p:sp>
      <p:sp>
        <p:nvSpPr>
          <p:cNvPr id="72" name="Text 70"/>
          <p:cNvSpPr/>
          <p:nvPr/>
        </p:nvSpPr>
        <p:spPr>
          <a:xfrm>
            <a:off x="3685032" y="328269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analýza promptu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382512" y="2304288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37960" y="2450592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24597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70" dirty="0"/>
          </a:p>
        </p:txBody>
      </p:sp>
      <p:sp>
        <p:nvSpPr>
          <p:cNvPr id="76" name="Shape 74"/>
          <p:cNvSpPr/>
          <p:nvPr/>
        </p:nvSpPr>
        <p:spPr>
          <a:xfrm>
            <a:off x="8389620" y="2500884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47104" y="28529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AUDIT CÍLE</a:t>
            </a:r>
            <a:endParaRPr lang="en-US" sz="1900" dirty="0"/>
          </a:p>
        </p:txBody>
      </p:sp>
      <p:sp>
        <p:nvSpPr>
          <p:cNvPr id="78" name="Text 76"/>
          <p:cNvSpPr/>
          <p:nvPr/>
        </p:nvSpPr>
        <p:spPr>
          <a:xfrm>
            <a:off x="6547104" y="328269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nezávislý pohled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9244584" y="2304288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00032" y="2450592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00032" y="24597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70" dirty="0"/>
          </a:p>
        </p:txBody>
      </p:sp>
      <p:sp>
        <p:nvSpPr>
          <p:cNvPr id="82" name="Shape 80"/>
          <p:cNvSpPr/>
          <p:nvPr/>
        </p:nvSpPr>
        <p:spPr>
          <a:xfrm>
            <a:off x="11251692" y="2500884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09176" y="2852928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BRÁNA A/B/C/D</a:t>
            </a:r>
            <a:endParaRPr lang="en-US" sz="1650" dirty="0"/>
          </a:p>
        </p:txBody>
      </p:sp>
      <p:sp>
        <p:nvSpPr>
          <p:cNvPr id="84" name="Text 82"/>
          <p:cNvSpPr/>
          <p:nvPr/>
        </p:nvSpPr>
        <p:spPr>
          <a:xfrm>
            <a:off x="9409176" y="328269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pokračovat / STOP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58368" y="4562856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3816" y="4709160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3816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70" dirty="0"/>
          </a:p>
        </p:txBody>
      </p:sp>
      <p:sp>
        <p:nvSpPr>
          <p:cNvPr id="88" name="Shape 86"/>
          <p:cNvSpPr/>
          <p:nvPr/>
        </p:nvSpPr>
        <p:spPr>
          <a:xfrm>
            <a:off x="2665476" y="4759452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" y="511149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VERIFIKACE</a:t>
            </a:r>
            <a:endParaRPr lang="en-US" sz="1900" dirty="0"/>
          </a:p>
        </p:txBody>
      </p:sp>
      <p:sp>
        <p:nvSpPr>
          <p:cNvPr id="90" name="Text 88"/>
          <p:cNvSpPr/>
          <p:nvPr/>
        </p:nvSpPr>
        <p:spPr>
          <a:xfrm>
            <a:off x="822960" y="554126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důkazy a verdikt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3520440" y="4562856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75888" y="4709160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75888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70" dirty="0"/>
          </a:p>
        </p:txBody>
      </p:sp>
      <p:sp>
        <p:nvSpPr>
          <p:cNvPr id="94" name="Text 92"/>
          <p:cNvSpPr/>
          <p:nvPr/>
        </p:nvSpPr>
        <p:spPr>
          <a:xfrm>
            <a:off x="3685032" y="511149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AGENT</a:t>
            </a:r>
            <a:endParaRPr lang="en-US" sz="1900" dirty="0"/>
          </a:p>
        </p:txBody>
      </p:sp>
      <p:sp>
        <p:nvSpPr>
          <p:cNvPr id="95" name="Text 93"/>
          <p:cNvSpPr/>
          <p:nvPr/>
        </p:nvSpPr>
        <p:spPr>
          <a:xfrm>
            <a:off x="3685032" y="554126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Sonnet → lokální model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6382512" y="4562856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37960" y="4709160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37960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70" dirty="0"/>
          </a:p>
        </p:txBody>
      </p:sp>
      <p:sp>
        <p:nvSpPr>
          <p:cNvPr id="99" name="Text 97"/>
          <p:cNvSpPr/>
          <p:nvPr/>
        </p:nvSpPr>
        <p:spPr>
          <a:xfrm>
            <a:off x="6547104" y="511149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PROMPT</a:t>
            </a:r>
            <a:endParaRPr lang="en-US" sz="1900" dirty="0"/>
          </a:p>
        </p:txBody>
      </p:sp>
      <p:sp>
        <p:nvSpPr>
          <p:cNvPr id="100" name="Text 98"/>
          <p:cNvSpPr/>
          <p:nvPr/>
        </p:nvSpPr>
        <p:spPr>
          <a:xfrm>
            <a:off x="6547104" y="554126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sestaví algoritmus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9244584" y="4562856"/>
            <a:ext cx="2313432" cy="1252728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00032" y="4709160"/>
            <a:ext cx="457200" cy="356616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400032" y="47183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70" dirty="0"/>
          </a:p>
        </p:txBody>
      </p:sp>
      <p:sp>
        <p:nvSpPr>
          <p:cNvPr id="104" name="Text 102"/>
          <p:cNvSpPr/>
          <p:nvPr/>
        </p:nvSpPr>
        <p:spPr>
          <a:xfrm>
            <a:off x="9409176" y="5111496"/>
            <a:ext cx="203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GOAL CONTRACT</a:t>
            </a:r>
            <a:endParaRPr lang="en-US" sz="1650" dirty="0"/>
          </a:p>
        </p:txBody>
      </p:sp>
      <p:sp>
        <p:nvSpPr>
          <p:cNvPr id="105" name="Text 103"/>
          <p:cNvSpPr/>
          <p:nvPr/>
        </p:nvSpPr>
        <p:spPr>
          <a:xfrm>
            <a:off x="9409176" y="5541264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neměnný cíl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667512" y="6053328"/>
            <a:ext cx="10881360" cy="384048"/>
          </a:xfrm>
          <a:prstGeom prst="roundRect">
            <a:avLst>
              <a:gd name="adj" fmla="val 26190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4108" y="6176772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88136" y="608076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1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Jantarová = hodnoticí brána. Při nejasnosti se FR zeptá místo hádání.</a:t>
            </a:r>
            <a:endParaRPr lang="en-US" sz="16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/  ZÁRUKY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40080" y="786384"/>
            <a:ext cx="2496312" cy="32004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7863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HODNOTICÍ BRÁNY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1197864"/>
            <a:ext cx="10991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Cíl. Oprávnění. Důkaz.</a:t>
            </a:r>
            <a:endParaRPr lang="en-US" sz="3400" dirty="0"/>
          </a:p>
        </p:txBody>
      </p:sp>
      <p:sp>
        <p:nvSpPr>
          <p:cNvPr id="51" name="Shape 49"/>
          <p:cNvSpPr/>
          <p:nvPr/>
        </p:nvSpPr>
        <p:spPr>
          <a:xfrm>
            <a:off x="685800" y="2011680"/>
            <a:ext cx="3529584" cy="2862072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9384" y="2350008"/>
            <a:ext cx="1042416" cy="1042416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76272" y="2596896"/>
            <a:ext cx="548640" cy="548640"/>
          </a:xfrm>
          <a:prstGeom prst="ellipse">
            <a:avLst/>
          </a:prstGeom>
          <a:solidFill>
            <a:srgbClr val="071223">
              <a:alpha val="0"/>
            </a:srgbClr>
          </a:solidFill>
          <a:ln w="21590">
            <a:solidFill>
              <a:srgbClr val="67D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77440" y="2798064"/>
            <a:ext cx="146304" cy="146304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46504" y="2871216"/>
            <a:ext cx="1408176" cy="0"/>
          </a:xfrm>
          <a:prstGeom prst="line">
            <a:avLst/>
          </a:prstGeom>
          <a:noFill/>
          <a:ln w="13335">
            <a:solidFill>
              <a:srgbClr val="67DBFF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50592" y="2167128"/>
            <a:ext cx="0" cy="1408176"/>
          </a:xfrm>
          <a:prstGeom prst="line">
            <a:avLst/>
          </a:prstGeom>
          <a:noFill/>
          <a:ln w="13335">
            <a:solidFill>
              <a:srgbClr val="67DBFF">
                <a:alpha val="6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0120" y="363016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spc="9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CÍL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914400" y="397764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Neztratí se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cestě.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4306824" y="2011680"/>
            <a:ext cx="3529584" cy="2862072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50408" y="2350008"/>
            <a:ext cx="1042416" cy="1042416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5843016" y="2532888"/>
            <a:ext cx="457200" cy="411480"/>
          </a:xfrm>
          <a:prstGeom prst="arc">
            <a:avLst/>
          </a:prstGeom>
          <a:solidFill>
            <a:srgbClr val="0B1930">
              <a:alpha val="0"/>
            </a:srgbClr>
          </a:solidFill>
          <a:ln w="33020">
            <a:solidFill>
              <a:srgbClr val="67DB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79008" y="2779776"/>
            <a:ext cx="585216" cy="448056"/>
          </a:xfrm>
          <a:prstGeom prst="roundRect">
            <a:avLst>
              <a:gd name="adj" fmla="val 18367"/>
            </a:avLst>
          </a:prstGeom>
          <a:solidFill>
            <a:srgbClr val="67DBFF"/>
          </a:solidFill>
          <a:ln w="12700">
            <a:solidFill>
              <a:srgbClr val="67DB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33211" y="2933395"/>
            <a:ext cx="76810" cy="76810"/>
          </a:xfrm>
          <a:prstGeom prst="ellipse">
            <a:avLst/>
          </a:prstGeom>
          <a:solidFill>
            <a:srgbClr val="0B1930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81144" y="363016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spc="9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OPRÁVNĚNÍ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4535424" y="397764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dělá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jen to, co smí.</a:t>
            </a:r>
            <a:endParaRPr lang="en-US" sz="2100" dirty="0"/>
          </a:p>
        </p:txBody>
      </p:sp>
      <p:sp>
        <p:nvSpPr>
          <p:cNvPr id="66" name="Shape 64"/>
          <p:cNvSpPr/>
          <p:nvPr/>
        </p:nvSpPr>
        <p:spPr>
          <a:xfrm>
            <a:off x="7927848" y="2011680"/>
            <a:ext cx="3529584" cy="2862072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71432" y="2350008"/>
            <a:ext cx="1042416" cy="1042416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45752" y="2889504"/>
            <a:ext cx="182880" cy="164592"/>
          </a:xfrm>
          <a:prstGeom prst="line">
            <a:avLst/>
          </a:prstGeom>
          <a:noFill/>
          <a:ln w="45720">
            <a:solidFill>
              <a:srgbClr val="67DB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28632" y="3054096"/>
            <a:ext cx="365760" cy="-429768"/>
          </a:xfrm>
          <a:prstGeom prst="line">
            <a:avLst/>
          </a:prstGeom>
          <a:noFill/>
          <a:ln w="45720">
            <a:solidFill>
              <a:srgbClr val="67D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02168" y="3630168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spc="9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DŮKAZ</a:t>
            </a:r>
            <a:endParaRPr lang="en-US" sz="1900" dirty="0"/>
          </a:p>
        </p:txBody>
      </p:sp>
      <p:sp>
        <p:nvSpPr>
          <p:cNvPr id="71" name="Text 69"/>
          <p:cNvSpPr/>
          <p:nvPr/>
        </p:nvSpPr>
        <p:spPr>
          <a:xfrm>
            <a:off x="8156448" y="3977640"/>
            <a:ext cx="30723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Úspěch se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musí ověřit.</a:t>
            </a:r>
            <a:endParaRPr lang="en-US" sz="2100" dirty="0"/>
          </a:p>
        </p:txBody>
      </p:sp>
      <p:sp>
        <p:nvSpPr>
          <p:cNvPr id="72" name="Shape 70"/>
          <p:cNvSpPr/>
          <p:nvPr/>
        </p:nvSpPr>
        <p:spPr>
          <a:xfrm>
            <a:off x="685800" y="5212080"/>
            <a:ext cx="10771632" cy="886968"/>
          </a:xfrm>
          <a:prstGeom prst="roundRect">
            <a:avLst>
              <a:gd name="adj" fmla="val 1546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5800" y="5212080"/>
            <a:ext cx="64008" cy="886968"/>
          </a:xfrm>
          <a:prstGeom prst="rect">
            <a:avLst/>
          </a:prstGeom>
          <a:solidFill>
            <a:srgbClr val="F5B94E"/>
          </a:solidFill>
          <a:ln w="12700">
            <a:solidFill>
              <a:srgbClr val="F5B94E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3272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5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„Algoritmy řídí, AI interpretuje a tvoří.“</a:t>
            </a:r>
            <a:endParaRPr lang="en-US" sz="2550" dirty="0"/>
          </a:p>
        </p:txBody>
      </p:sp>
      <p:sp>
        <p:nvSpPr>
          <p:cNvPr id="75" name="Text 73"/>
          <p:cNvSpPr/>
          <p:nvPr/>
        </p:nvSpPr>
        <p:spPr>
          <a:xfrm>
            <a:off x="1051560" y="6236208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spc="170" kern="0" dirty="0">
                <a:solidFill>
                  <a:srgbClr val="F5B9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MAY GROW; AUTHORITY MAY NOT.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/  ADAPTIVNÍ UČENÍ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40080" y="786384"/>
            <a:ext cx="2496312" cy="32004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78638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H-SET EVOLUTION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1197864"/>
            <a:ext cx="10991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Učí se metoda. Ne pravomoc.</a:t>
            </a:r>
            <a:endParaRPr lang="en-US" sz="3400" dirty="0"/>
          </a:p>
        </p:txBody>
      </p:sp>
      <p:sp>
        <p:nvSpPr>
          <p:cNvPr id="51" name="Shape 49"/>
          <p:cNvSpPr/>
          <p:nvPr/>
        </p:nvSpPr>
        <p:spPr>
          <a:xfrm>
            <a:off x="2258568" y="2514600"/>
            <a:ext cx="3200400" cy="3200400"/>
          </a:xfrm>
          <a:prstGeom prst="ellipse">
            <a:avLst/>
          </a:prstGeom>
          <a:solidFill>
            <a:srgbClr val="071223">
              <a:alpha val="0"/>
            </a:srgbClr>
          </a:solidFill>
          <a:ln w="26670">
            <a:solidFill>
              <a:srgbClr val="428BFF">
                <a:alpha val="6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96312" y="2752344"/>
            <a:ext cx="2724912" cy="2724912"/>
          </a:xfrm>
          <a:prstGeom prst="ellipse">
            <a:avLst/>
          </a:prstGeom>
          <a:solidFill>
            <a:srgbClr val="071223">
              <a:alpha val="0"/>
            </a:srgbClr>
          </a:solidFill>
          <a:ln w="8255">
            <a:solidFill>
              <a:srgbClr val="428BFF">
                <a:alpha val="2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44952" y="3300984"/>
            <a:ext cx="1627632" cy="1627632"/>
          </a:xfrm>
          <a:prstGeom prst="ellipse">
            <a:avLst/>
          </a:prstGeom>
          <a:solidFill>
            <a:srgbClr val="0B1930"/>
          </a:solidFill>
          <a:ln w="15240">
            <a:solidFill>
              <a:srgbClr val="428B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72968" y="3721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67D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H-SET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3136392" y="41330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spc="15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4617714" y="2931131"/>
            <a:ext cx="117043" cy="117043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22936" y="4486046"/>
            <a:ext cx="117043" cy="117043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00246" y="5447037"/>
            <a:ext cx="117043" cy="117043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77557" y="4486046"/>
            <a:ext cx="117043" cy="117043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82779" y="2931131"/>
            <a:ext cx="117043" cy="117043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98648" y="2121408"/>
            <a:ext cx="1920240" cy="576072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35808" y="2176272"/>
            <a:ext cx="320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80" dirty="0"/>
          </a:p>
        </p:txBody>
      </p:sp>
      <p:sp>
        <p:nvSpPr>
          <p:cNvPr id="63" name="Text 61"/>
          <p:cNvSpPr/>
          <p:nvPr/>
        </p:nvSpPr>
        <p:spPr>
          <a:xfrm>
            <a:off x="3383280" y="2185416"/>
            <a:ext cx="1362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</a:t>
            </a:r>
            <a:endParaRPr lang="en-US" sz="1550" dirty="0"/>
          </a:p>
        </p:txBody>
      </p:sp>
      <p:sp>
        <p:nvSpPr>
          <p:cNvPr id="64" name="Shape 62"/>
          <p:cNvSpPr/>
          <p:nvPr/>
        </p:nvSpPr>
        <p:spPr>
          <a:xfrm>
            <a:off x="4506151" y="3309258"/>
            <a:ext cx="1975104" cy="576072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3311" y="3364122"/>
            <a:ext cx="320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80" dirty="0"/>
          </a:p>
        </p:txBody>
      </p:sp>
      <p:sp>
        <p:nvSpPr>
          <p:cNvPr id="66" name="Text 64"/>
          <p:cNvSpPr/>
          <p:nvPr/>
        </p:nvSpPr>
        <p:spPr>
          <a:xfrm>
            <a:off x="4990783" y="337326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VÝBĚR H</a:t>
            </a:r>
            <a:endParaRPr lang="en-US" sz="1550" dirty="0"/>
          </a:p>
        </p:txBody>
      </p:sp>
      <p:sp>
        <p:nvSpPr>
          <p:cNvPr id="67" name="Shape 65"/>
          <p:cNvSpPr/>
          <p:nvPr/>
        </p:nvSpPr>
        <p:spPr>
          <a:xfrm>
            <a:off x="4046253" y="5231238"/>
            <a:ext cx="1645920" cy="576072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83413" y="5286102"/>
            <a:ext cx="320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80" dirty="0"/>
          </a:p>
        </p:txBody>
      </p:sp>
      <p:sp>
        <p:nvSpPr>
          <p:cNvPr id="69" name="Text 67"/>
          <p:cNvSpPr/>
          <p:nvPr/>
        </p:nvSpPr>
        <p:spPr>
          <a:xfrm>
            <a:off x="4530885" y="5295246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BĚH</a:t>
            </a:r>
            <a:endParaRPr lang="en-US" sz="1550" dirty="0"/>
          </a:p>
        </p:txBody>
      </p:sp>
      <p:sp>
        <p:nvSpPr>
          <p:cNvPr id="70" name="Shape 68"/>
          <p:cNvSpPr/>
          <p:nvPr/>
        </p:nvSpPr>
        <p:spPr>
          <a:xfrm>
            <a:off x="1874487" y="5231238"/>
            <a:ext cx="1947672" cy="576072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11647" y="5286102"/>
            <a:ext cx="320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80" dirty="0"/>
          </a:p>
        </p:txBody>
      </p:sp>
      <p:sp>
        <p:nvSpPr>
          <p:cNvPr id="72" name="Text 70"/>
          <p:cNvSpPr/>
          <p:nvPr/>
        </p:nvSpPr>
        <p:spPr>
          <a:xfrm>
            <a:off x="2359119" y="529524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DIAGNÓZA</a:t>
            </a:r>
            <a:endParaRPr lang="en-US" sz="1330" dirty="0"/>
          </a:p>
        </p:txBody>
      </p:sp>
      <p:sp>
        <p:nvSpPr>
          <p:cNvPr id="73" name="Shape 71"/>
          <p:cNvSpPr/>
          <p:nvPr/>
        </p:nvSpPr>
        <p:spPr>
          <a:xfrm>
            <a:off x="1227137" y="3309258"/>
            <a:ext cx="1993392" cy="576072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64297" y="3364122"/>
            <a:ext cx="320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80" dirty="0"/>
          </a:p>
        </p:txBody>
      </p:sp>
      <p:sp>
        <p:nvSpPr>
          <p:cNvPr id="75" name="Text 73"/>
          <p:cNvSpPr/>
          <p:nvPr/>
        </p:nvSpPr>
        <p:spPr>
          <a:xfrm>
            <a:off x="1711769" y="337326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</a:t>
            </a:r>
            <a:endParaRPr lang="en-US" sz="1330" dirty="0"/>
          </a:p>
        </p:txBody>
      </p:sp>
      <p:sp>
        <p:nvSpPr>
          <p:cNvPr id="76" name="Shape 74"/>
          <p:cNvSpPr/>
          <p:nvPr/>
        </p:nvSpPr>
        <p:spPr>
          <a:xfrm>
            <a:off x="6903720" y="2002536"/>
            <a:ext cx="0" cy="3849624"/>
          </a:xfrm>
          <a:prstGeom prst="line">
            <a:avLst/>
          </a:prstGeom>
          <a:noFill/>
          <a:ln w="12700">
            <a:solidFill>
              <a:srgbClr val="2A456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05472" y="202996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spc="45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HYPOTÉZY KE ZKUŠENOSTI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7232904" y="2633472"/>
            <a:ext cx="4078224" cy="795528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7C9AB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61504" y="2852928"/>
            <a:ext cx="347472" cy="347472"/>
          </a:xfrm>
          <a:prstGeom prst="ellipse">
            <a:avLst/>
          </a:prstGeom>
          <a:solidFill>
            <a:srgbClr val="7C9AB4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52360" y="2880360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712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001000" y="275234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KANDIDÁT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8001000" y="308152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návrh jiné sestavy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9226296" y="3465576"/>
            <a:ext cx="0" cy="182880"/>
          </a:xfrm>
          <a:prstGeom prst="line">
            <a:avLst/>
          </a:prstGeom>
          <a:noFill/>
          <a:ln w="15875">
            <a:solidFill>
              <a:srgbClr val="65A8FF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7232904" y="3703320"/>
            <a:ext cx="4078224" cy="795528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65A8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61504" y="3922776"/>
            <a:ext cx="347472" cy="347472"/>
          </a:xfrm>
          <a:prstGeom prst="ellipse">
            <a:avLst/>
          </a:prstGeom>
          <a:solidFill>
            <a:srgbClr val="65A8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3950208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712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8001000" y="3822192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PODPOŘENO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8001000" y="4151376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první reálné srovnání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9226296" y="4535424"/>
            <a:ext cx="0" cy="182880"/>
          </a:xfrm>
          <a:prstGeom prst="line">
            <a:avLst/>
          </a:prstGeom>
          <a:noFill/>
          <a:ln w="15875">
            <a:solidFill>
              <a:srgbClr val="65A8FF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232904" y="4773168"/>
            <a:ext cx="4078224" cy="795528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6AE7C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1504" y="4992624"/>
            <a:ext cx="347472" cy="347472"/>
          </a:xfrm>
          <a:prstGeom prst="ellipse">
            <a:avLst/>
          </a:prstGeom>
          <a:solidFill>
            <a:srgbClr val="6AE7C6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2360" y="5020056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712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001000" y="4892040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OVĚŘENO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8001000" y="5221224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alespoň dvě srovnání</a:t>
            </a:r>
            <a:endParaRPr lang="en-US" sz="1250" dirty="0"/>
          </a:p>
        </p:txBody>
      </p:sp>
      <p:sp>
        <p:nvSpPr>
          <p:cNvPr id="95" name="Text 93"/>
          <p:cNvSpPr/>
          <p:nvPr/>
        </p:nvSpPr>
        <p:spPr>
          <a:xfrm>
            <a:off x="7205472" y="574243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20" b="1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Pevné hranice: zamčený cíl a systémová oprávnění.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/  KNOWLEDGE BASE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40080" y="786384"/>
            <a:ext cx="2435962" cy="32004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" y="786384"/>
            <a:ext cx="2198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TÝMOVÁ PAMĚŤ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1197864"/>
            <a:ext cx="10991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spc="-5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Zkušenosti, které zůstávají.</a:t>
            </a:r>
            <a:endParaRPr lang="en-US" sz="3400" dirty="0"/>
          </a:p>
        </p:txBody>
      </p:sp>
      <p:sp>
        <p:nvSpPr>
          <p:cNvPr id="51" name="Shape 49"/>
          <p:cNvSpPr/>
          <p:nvPr/>
        </p:nvSpPr>
        <p:spPr>
          <a:xfrm>
            <a:off x="704088" y="2020824"/>
            <a:ext cx="6565392" cy="3895344"/>
          </a:xfrm>
          <a:prstGeom prst="roundRect">
            <a:avLst>
              <a:gd name="adj" fmla="val 4930"/>
            </a:avLst>
          </a:prstGeom>
          <a:solidFill>
            <a:srgbClr val="11243B"/>
          </a:solidFill>
          <a:ln w="12065">
            <a:solidFill>
              <a:srgbClr val="2A456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" y="2029968"/>
            <a:ext cx="6547104" cy="594360"/>
          </a:xfrm>
          <a:prstGeom prst="roundRect">
            <a:avLst>
              <a:gd name="adj" fmla="val 24615"/>
            </a:avLst>
          </a:prstGeom>
          <a:solidFill>
            <a:srgbClr val="132C4A">
              <a:alpha val="95000"/>
            </a:srgbClr>
          </a:solidFill>
          <a:ln w="12700">
            <a:solidFill>
              <a:srgbClr val="132C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" y="2235708"/>
            <a:ext cx="137160" cy="137160"/>
          </a:xfrm>
          <a:prstGeom prst="ellipse">
            <a:avLst/>
          </a:prstGeom>
          <a:solidFill>
            <a:srgbClr val="FF9A83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11580" y="2235708"/>
            <a:ext cx="137160" cy="13716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40180" y="2235708"/>
            <a:ext cx="137160" cy="137160"/>
          </a:xfrm>
          <a:prstGeom prst="ellipse">
            <a:avLst/>
          </a:prstGeom>
          <a:solidFill>
            <a:srgbClr val="6AE7C6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10512" y="2130552"/>
            <a:ext cx="4818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7F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knowledge/  ·  týmový Git repozitář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69264" y="2852928"/>
            <a:ext cx="5989320" cy="557784"/>
          </a:xfrm>
          <a:prstGeom prst="roundRect">
            <a:avLst>
              <a:gd name="adj" fmla="val 14754"/>
            </a:avLst>
          </a:prstGeom>
          <a:solidFill>
            <a:srgbClr val="11243B"/>
          </a:solidFill>
          <a:ln w="12700">
            <a:solidFill>
              <a:srgbClr val="11243B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80160" y="2980944"/>
            <a:ext cx="0" cy="310896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0160" y="3127248"/>
            <a:ext cx="274320" cy="0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27632" y="2999232"/>
            <a:ext cx="301752" cy="246888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27632" y="2962656"/>
            <a:ext cx="128016" cy="64008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39112" y="2944368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10" dirty="0">
                <a:solidFill>
                  <a:srgbClr val="67D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sets/</a:t>
            </a:r>
            <a:endParaRPr lang="en-US" sz="1710" dirty="0"/>
          </a:p>
        </p:txBody>
      </p:sp>
      <p:sp>
        <p:nvSpPr>
          <p:cNvPr id="63" name="Text 61"/>
          <p:cNvSpPr/>
          <p:nvPr/>
        </p:nvSpPr>
        <p:spPr>
          <a:xfrm>
            <a:off x="4608576" y="2944368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analytické H-sestavy</a:t>
            </a:r>
            <a:endParaRPr lang="en-US" sz="1450" dirty="0"/>
          </a:p>
        </p:txBody>
      </p:sp>
      <p:sp>
        <p:nvSpPr>
          <p:cNvPr id="64" name="Shape 62"/>
          <p:cNvSpPr/>
          <p:nvPr/>
        </p:nvSpPr>
        <p:spPr>
          <a:xfrm>
            <a:off x="969264" y="3547872"/>
            <a:ext cx="5989320" cy="557784"/>
          </a:xfrm>
          <a:prstGeom prst="roundRect">
            <a:avLst>
              <a:gd name="adj" fmla="val 1475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80160" y="3675888"/>
            <a:ext cx="0" cy="310896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80160" y="3822192"/>
            <a:ext cx="274320" cy="0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27632" y="3694176"/>
            <a:ext cx="301752" cy="246888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27632" y="3657600"/>
            <a:ext cx="128016" cy="64008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039112" y="3639312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10" dirty="0">
                <a:solidFill>
                  <a:srgbClr val="67D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experiences/</a:t>
            </a:r>
            <a:endParaRPr lang="en-US" sz="1710" dirty="0"/>
          </a:p>
        </p:txBody>
      </p:sp>
      <p:sp>
        <p:nvSpPr>
          <p:cNvPr id="70" name="Text 68"/>
          <p:cNvSpPr/>
          <p:nvPr/>
        </p:nvSpPr>
        <p:spPr>
          <a:xfrm>
            <a:off x="4608576" y="3639312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zkušenosti z běhů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969264" y="4242816"/>
            <a:ext cx="5989320" cy="557784"/>
          </a:xfrm>
          <a:prstGeom prst="roundRect">
            <a:avLst>
              <a:gd name="adj" fmla="val 14754"/>
            </a:avLst>
          </a:prstGeom>
          <a:solidFill>
            <a:srgbClr val="11243B"/>
          </a:solidFill>
          <a:ln w="12700">
            <a:solidFill>
              <a:srgbClr val="11243B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80160" y="4370832"/>
            <a:ext cx="0" cy="310896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80160" y="4517136"/>
            <a:ext cx="274320" cy="0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27632" y="4389120"/>
            <a:ext cx="301752" cy="246888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27632" y="4352544"/>
            <a:ext cx="128016" cy="64008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39112" y="4334256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10" dirty="0">
                <a:solidFill>
                  <a:srgbClr val="67D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comparisons/</a:t>
            </a:r>
            <a:endParaRPr lang="en-US" sz="1710" dirty="0"/>
          </a:p>
        </p:txBody>
      </p:sp>
      <p:sp>
        <p:nvSpPr>
          <p:cNvPr id="77" name="Text 75"/>
          <p:cNvSpPr/>
          <p:nvPr/>
        </p:nvSpPr>
        <p:spPr>
          <a:xfrm>
            <a:off x="4608576" y="4334256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řízená srovnání</a:t>
            </a:r>
            <a:endParaRPr lang="en-US" sz="1450" dirty="0"/>
          </a:p>
        </p:txBody>
      </p:sp>
      <p:sp>
        <p:nvSpPr>
          <p:cNvPr id="78" name="Shape 76"/>
          <p:cNvSpPr/>
          <p:nvPr/>
        </p:nvSpPr>
        <p:spPr>
          <a:xfrm>
            <a:off x="969264" y="4937760"/>
            <a:ext cx="5989320" cy="557784"/>
          </a:xfrm>
          <a:prstGeom prst="roundRect">
            <a:avLst>
              <a:gd name="adj" fmla="val 1475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80160" y="5065776"/>
            <a:ext cx="0" cy="310896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80160" y="5212080"/>
            <a:ext cx="274320" cy="0"/>
          </a:xfrm>
          <a:prstGeom prst="line">
            <a:avLst/>
          </a:prstGeom>
          <a:noFill/>
          <a:ln w="13970">
            <a:solidFill>
              <a:srgbClr val="2A456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27632" y="5084064"/>
            <a:ext cx="301752" cy="246888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27632" y="5047488"/>
            <a:ext cx="128016" cy="64008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39112" y="502920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10" dirty="0">
                <a:solidFill>
                  <a:srgbClr val="67DB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recommendations/</a:t>
            </a:r>
            <a:endParaRPr lang="en-US" sz="1710" dirty="0"/>
          </a:p>
        </p:txBody>
      </p:sp>
      <p:sp>
        <p:nvSpPr>
          <p:cNvPr id="84" name="Text 82"/>
          <p:cNvSpPr/>
          <p:nvPr/>
        </p:nvSpPr>
        <p:spPr>
          <a:xfrm>
            <a:off x="4608576" y="5029200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doporučené postupy</a:t>
            </a:r>
            <a:endParaRPr lang="en-US" sz="1450" dirty="0"/>
          </a:p>
        </p:txBody>
      </p:sp>
      <p:sp>
        <p:nvSpPr>
          <p:cNvPr id="85" name="Shape 83"/>
          <p:cNvSpPr/>
          <p:nvPr/>
        </p:nvSpPr>
        <p:spPr>
          <a:xfrm>
            <a:off x="7708392" y="2020824"/>
            <a:ext cx="3822192" cy="3895344"/>
          </a:xfrm>
          <a:prstGeom prst="roundRect">
            <a:avLst>
              <a:gd name="adj" fmla="val 5024"/>
            </a:avLst>
          </a:prstGeom>
          <a:solidFill>
            <a:srgbClr val="0B1930"/>
          </a:solidFill>
          <a:ln w="13970">
            <a:solidFill>
              <a:srgbClr val="428B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88552" y="2249424"/>
            <a:ext cx="1335024" cy="1335024"/>
          </a:xfrm>
          <a:prstGeom prst="ellipse">
            <a:avLst/>
          </a:prstGeom>
          <a:solidFill>
            <a:srgbClr val="071223">
              <a:alpha val="0"/>
            </a:srgbClr>
          </a:solidFill>
          <a:ln w="16510">
            <a:solidFill>
              <a:srgbClr val="67DBFF">
                <a:alpha val="69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372600" y="2633472"/>
            <a:ext cx="566928" cy="566928"/>
          </a:xfrm>
          <a:prstGeom prst="ellipse">
            <a:avLst/>
          </a:prstGeom>
          <a:solidFill>
            <a:srgbClr val="13478F"/>
          </a:solidFill>
          <a:ln w="16510">
            <a:solidFill>
              <a:srgbClr val="428B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564624" y="2825496"/>
            <a:ext cx="182880" cy="1828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30968" y="2916936"/>
            <a:ext cx="164592" cy="0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21161" y="3182033"/>
            <a:ext cx="116384" cy="116384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56064" y="3291840"/>
            <a:ext cx="0" cy="164592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90967" y="3182033"/>
            <a:ext cx="-116384" cy="116384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81160" y="2916936"/>
            <a:ext cx="-164592" cy="0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90967" y="2651839"/>
            <a:ext cx="-116384" cy="-116384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56064" y="2542032"/>
            <a:ext cx="0" cy="-164592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21161" y="2651839"/>
            <a:ext cx="116384" cy="-116384"/>
          </a:xfrm>
          <a:prstGeom prst="line">
            <a:avLst/>
          </a:prstGeom>
          <a:noFill/>
          <a:ln w="24130">
            <a:solidFill>
              <a:srgbClr val="67DB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82712" y="3831336"/>
            <a:ext cx="3273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METODA</a:t>
            </a:r>
            <a:endParaRPr lang="en-US" sz="3000" dirty="0"/>
          </a:p>
        </p:txBody>
      </p:sp>
      <p:sp>
        <p:nvSpPr>
          <p:cNvPr id="98" name="Text 96"/>
          <p:cNvSpPr/>
          <p:nvPr/>
        </p:nvSpPr>
        <p:spPr>
          <a:xfrm>
            <a:off x="7982712" y="4251960"/>
            <a:ext cx="32735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67D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 OBSAH</a:t>
            </a:r>
            <a:endParaRPr lang="en-US" sz="3000" dirty="0"/>
          </a:p>
        </p:txBody>
      </p:sp>
      <p:sp>
        <p:nvSpPr>
          <p:cNvPr id="99" name="Text 97"/>
          <p:cNvSpPr/>
          <p:nvPr/>
        </p:nvSpPr>
        <p:spPr>
          <a:xfrm>
            <a:off x="8028432" y="4928616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Sdílíme zkušenosti s postupem.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celé prompty a odpovědi.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8330184" y="5568696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spc="110" kern="0" dirty="0">
                <a:solidFill>
                  <a:srgbClr val="FFD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 PULL  ↔  PUSH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191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6090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989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5838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74352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3848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53344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92840" y="749808"/>
            <a:ext cx="0" cy="5650992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77724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131673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85623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39572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93522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7472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014216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53712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093208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632704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172200"/>
            <a:ext cx="11265408" cy="0"/>
          </a:xfrm>
          <a:prstGeom prst="line">
            <a:avLst/>
          </a:prstGeom>
          <a:noFill/>
          <a:ln w="4064">
            <a:solidFill>
              <a:srgbClr val="294159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4688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46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7122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7552" y="246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spc="160" kern="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"/>
            <a:ext cx="3246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00" b="1" spc="10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/  STAV A DALŠÍ KROK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6656832"/>
            <a:ext cx="10908792" cy="0"/>
          </a:xfrm>
          <a:prstGeom prst="line">
            <a:avLst/>
          </a:prstGeom>
          <a:noFill/>
          <a:ln w="10160">
            <a:solidFill>
              <a:srgbClr val="1C35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2714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5349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87983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70617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3251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35886" y="6684264"/>
            <a:ext cx="1446058" cy="33833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7040" y="6483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40" b="1" spc="150" kern="0" dirty="0">
                <a:solidFill>
                  <a:srgbClr val="7C9A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/  07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9445752" y="182880"/>
            <a:ext cx="2596896" cy="2596896"/>
          </a:xfrm>
          <a:prstGeom prst="ellipse">
            <a:avLst/>
          </a:prstGeom>
          <a:solidFill>
            <a:srgbClr val="071223">
              <a:alpha val="0"/>
            </a:srgbClr>
          </a:solidFill>
          <a:ln w="20320">
            <a:solidFill>
              <a:srgbClr val="428BF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75520" y="612648"/>
            <a:ext cx="1737360" cy="1737360"/>
          </a:xfrm>
          <a:prstGeom prst="ellipse">
            <a:avLst/>
          </a:prstGeom>
          <a:solidFill>
            <a:srgbClr val="071223">
              <a:alpha val="0"/>
            </a:srgbClr>
          </a:solidFill>
          <a:ln w="12700">
            <a:solidFill>
              <a:srgbClr val="67DB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" y="886968"/>
            <a:ext cx="3337560" cy="402336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88696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b="1" spc="10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FRANKENSTEIN  /  V0.4</a:t>
            </a:r>
            <a:endParaRPr lang="en-US" sz="1220" dirty="0"/>
          </a:p>
        </p:txBody>
      </p:sp>
      <p:sp>
        <p:nvSpPr>
          <p:cNvPr id="52" name="Text 50"/>
          <p:cNvSpPr/>
          <p:nvPr/>
        </p:nvSpPr>
        <p:spPr>
          <a:xfrm>
            <a:off x="667512" y="1463040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9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Funkční základ.</a:t>
            </a:r>
            <a:endParaRPr lang="en-US" sz="4900" dirty="0"/>
          </a:p>
        </p:txBody>
      </p:sp>
      <p:sp>
        <p:nvSpPr>
          <p:cNvPr id="53" name="Text 51"/>
          <p:cNvSpPr/>
          <p:nvPr/>
        </p:nvSpPr>
        <p:spPr>
          <a:xfrm>
            <a:off x="667512" y="21488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100" b="1" dirty="0">
                <a:solidFill>
                  <a:srgbClr val="67D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Připravený růst.</a:t>
            </a:r>
            <a:endParaRPr lang="en-US" sz="4100" dirty="0"/>
          </a:p>
        </p:txBody>
      </p:sp>
      <p:sp>
        <p:nvSpPr>
          <p:cNvPr id="54" name="Shape 52"/>
          <p:cNvSpPr/>
          <p:nvPr/>
        </p:nvSpPr>
        <p:spPr>
          <a:xfrm>
            <a:off x="685800" y="3017520"/>
            <a:ext cx="3511296" cy="182880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" y="3017520"/>
            <a:ext cx="3511296" cy="64008"/>
          </a:xfrm>
          <a:prstGeom prst="rect">
            <a:avLst/>
          </a:prstGeom>
          <a:solidFill>
            <a:srgbClr val="6AE7C6"/>
          </a:solidFill>
          <a:ln w="12700">
            <a:solidFill>
              <a:srgbClr val="6AE7C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" y="32826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6AE7C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93 / 93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905256" y="4005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40" b="1" spc="6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DETERMINISTICKÝCH</a:t>
            </a:r>
            <a:endParaRPr lang="en-US" sz="1440" dirty="0"/>
          </a:p>
        </p:txBody>
      </p:sp>
      <p:sp>
        <p:nvSpPr>
          <p:cNvPr id="58" name="Text 56"/>
          <p:cNvSpPr/>
          <p:nvPr/>
        </p:nvSpPr>
        <p:spPr>
          <a:xfrm>
            <a:off x="905256" y="43159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20" b="1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TESTŮ ÚSPĚŠNĚ</a:t>
            </a:r>
            <a:endParaRPr lang="en-US" sz="1420" dirty="0"/>
          </a:p>
        </p:txBody>
      </p:sp>
      <p:sp>
        <p:nvSpPr>
          <p:cNvPr id="59" name="Shape 57"/>
          <p:cNvSpPr/>
          <p:nvPr/>
        </p:nvSpPr>
        <p:spPr>
          <a:xfrm>
            <a:off x="4297680" y="3017520"/>
            <a:ext cx="3511296" cy="182880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97680" y="3017520"/>
            <a:ext cx="3511296" cy="64008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9704" y="32826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</a:t>
            </a:r>
            <a:endParaRPr lang="en-US" sz="5100" dirty="0"/>
          </a:p>
        </p:txBody>
      </p:sp>
      <p:sp>
        <p:nvSpPr>
          <p:cNvPr id="62" name="Text 60"/>
          <p:cNvSpPr/>
          <p:nvPr/>
        </p:nvSpPr>
        <p:spPr>
          <a:xfrm>
            <a:off x="4517136" y="4005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40" b="1" spc="6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VÝCHOZÍCH</a:t>
            </a:r>
            <a:endParaRPr lang="en-US" sz="1440" dirty="0"/>
          </a:p>
        </p:txBody>
      </p:sp>
      <p:sp>
        <p:nvSpPr>
          <p:cNvPr id="63" name="Text 61"/>
          <p:cNvSpPr/>
          <p:nvPr/>
        </p:nvSpPr>
        <p:spPr>
          <a:xfrm>
            <a:off x="4517136" y="43159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20" b="1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HLEDISEK H1–H10</a:t>
            </a:r>
            <a:endParaRPr lang="en-US" sz="1420" dirty="0"/>
          </a:p>
        </p:txBody>
      </p:sp>
      <p:sp>
        <p:nvSpPr>
          <p:cNvPr id="64" name="Shape 62"/>
          <p:cNvSpPr/>
          <p:nvPr/>
        </p:nvSpPr>
        <p:spPr>
          <a:xfrm>
            <a:off x="7909560" y="3017520"/>
            <a:ext cx="3511296" cy="182880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09560" y="3017520"/>
            <a:ext cx="3511296" cy="64008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01584" y="32826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100" b="1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≥ 2</a:t>
            </a:r>
            <a:endParaRPr lang="en-US" sz="5100" dirty="0"/>
          </a:p>
        </p:txBody>
      </p:sp>
      <p:sp>
        <p:nvSpPr>
          <p:cNvPr id="67" name="Text 65"/>
          <p:cNvSpPr/>
          <p:nvPr/>
        </p:nvSpPr>
        <p:spPr>
          <a:xfrm>
            <a:off x="8129016" y="4005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40" b="1" spc="6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SROVNÁNÍ</a:t>
            </a:r>
            <a:endParaRPr lang="en-US" sz="1440" dirty="0"/>
          </a:p>
        </p:txBody>
      </p:sp>
      <p:sp>
        <p:nvSpPr>
          <p:cNvPr id="68" name="Text 66"/>
          <p:cNvSpPr/>
          <p:nvPr/>
        </p:nvSpPr>
        <p:spPr>
          <a:xfrm>
            <a:off x="8129016" y="43159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20" b="1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OVĚŘENÍ ZKUŠENOSTI</a:t>
            </a:r>
            <a:endParaRPr lang="en-US" sz="1420" dirty="0"/>
          </a:p>
        </p:txBody>
      </p:sp>
      <p:sp>
        <p:nvSpPr>
          <p:cNvPr id="69" name="Shape 67"/>
          <p:cNvSpPr/>
          <p:nvPr/>
        </p:nvSpPr>
        <p:spPr>
          <a:xfrm>
            <a:off x="704088" y="5138928"/>
            <a:ext cx="10689336" cy="566928"/>
          </a:xfrm>
          <a:prstGeom prst="roundRect">
            <a:avLst>
              <a:gd name="adj" fmla="val 20968"/>
            </a:avLst>
          </a:prstGeom>
          <a:solidFill>
            <a:srgbClr val="0B1930"/>
          </a:solidFill>
          <a:ln w="10160">
            <a:solidFill>
              <a:srgbClr val="428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3544" y="52852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30" b="1" spc="60" kern="0" dirty="0">
                <a:solidFill>
                  <a:srgbClr val="67D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DALŠÍ KROK</a:t>
            </a:r>
            <a:endParaRPr lang="en-US" sz="1430" dirty="0"/>
          </a:p>
        </p:txBody>
      </p:sp>
      <p:sp>
        <p:nvSpPr>
          <p:cNvPr id="71" name="Text 69"/>
          <p:cNvSpPr/>
          <p:nvPr/>
        </p:nvSpPr>
        <p:spPr>
          <a:xfrm>
            <a:off x="2633472" y="521208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Lokální model   →   řízené experimenty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731520" y="5998464"/>
            <a:ext cx="2496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b="1" spc="70" kern="0" dirty="0">
                <a:solidFill>
                  <a:srgbClr val="F7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DĚKUJEME</a:t>
            </a:r>
            <a:endParaRPr lang="en-US" sz="1850" dirty="0"/>
          </a:p>
        </p:txBody>
      </p:sp>
      <p:sp>
        <p:nvSpPr>
          <p:cNvPr id="73" name="Text 71"/>
          <p:cNvSpPr/>
          <p:nvPr/>
        </p:nvSpPr>
        <p:spPr>
          <a:xfrm>
            <a:off x="3657600" y="6007608"/>
            <a:ext cx="7598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90" dirty="0">
                <a:solidFill>
                  <a:srgbClr val="A8C2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AISHA   ·   Zdeněk Bělka   ·   Ladislav Habásko   ·   Martin Landa</a:t>
            </a:r>
            <a:endParaRPr lang="en-US" sz="13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Aisha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FRANKENSTEIN — Aisha / 90 sekund</dc:title>
  <dc:subject>FRANKENSTEIN v0.4 — autonomní cyklus a adaptivní učení</dc:subject>
  <dc:creator>Tým Aisha</dc:creator>
  <cp:lastModifiedBy>Tým Aisha</cp:lastModifiedBy>
  <cp:revision>1</cp:revision>
  <dcterms:created xsi:type="dcterms:W3CDTF">2026-10-09T04:44:50Z</dcterms:created>
  <dcterms:modified xsi:type="dcterms:W3CDTF">2026-10-09T04:44:50Z</dcterms:modified>
</cp:coreProperties>
</file>