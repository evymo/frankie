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Inter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D62609E-2187-47EB-9F46-91E5F518667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[ČAS 0:00–0:08; délka 90 sekund celkem]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Jsme tým Aisha. FRANKENSTEIN mění běžné zadání v ověřený kontrakt pro agenta — a učí se z každého běhu.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https://drive.google.com/file/d/1WSzNQK18rG9qR04ucyRwgnsqPfoF9JtH/view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https://github.com/evymo/frankie/blob/main/docs/ARCHITEKTURA-v0.4.md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https://github.com/evymo/frankie/blob/main/knowledge/README.md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38D935-A7D5-4E35-B054-8C8CE783904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[ČAS 0:08–0:20; délka 90 sekund celkem]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Surový prompt často nemá přesný cíl ani hranice. Model pak může domýšlet fakta, odbočit od zadání nebo odevzdat neověřenou odpověď. FR převádí nejistoty na kontrolovatelné podmínky.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https://drive.google.com/file/d/1WSzNQK18rG9qR04ucyRwgnsqPfoF9JtH/view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https://github.com/evymo/frankie/blob/main/docs/ARCHITEKTURA-v0.4.md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https://github.com/evymo/frankie/blob/main/knowledge/README.md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E5632-F8A3-4127-BA80-BF0B6F01E9F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[ČAS 0:20–0:38; délka 90 sekund celkem]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 uchová zadání, analyzuje deset hledisek a nezávisle audituje cíl. Brána A až D rozhodne o postupu či upřesnění. Cíl zamkne do kontraktu. Algoritmus z něj sestaví prompt pro vykonávacího agenta — dnes Sonnet, cílově lokální model. Výsledek projde nezávislou verifikací.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https://drive.google.com/file/d/1WSzNQK18rG9qR04ucyRwgnsqPfoF9JtH/view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https://github.com/evymo/frankie/blob/main/docs/ARCHITEKTURA-v0.4.md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https://github.com/evymo/frankie/blob/main/knowledge/README.md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512F69-AB52-4E65-B612-B667259DD80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[ČAS 0:38–0:50; délka 90 sekund celkem]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Brány hlídají tři věci: cíl se po cestě nemění, oprávnění nelze překročit a úspěch musí být doložen. Náš princip zní: Algoritmy řídí, AI interpretuje a tvoří.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https://drive.google.com/file/d/1WSzNQK18rG9qR04ucyRwgnsqPfoF9JtH/view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https://github.com/evymo/frankie/blob/main/docs/ARCHITEKTURA-v0.4.md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https://github.com/evymo/frankie/blob/main/knowledge/README.md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EDA285-95F6-4AF3-B48F-2DB83535811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[ČAS 0:50–1:08; délka 90 sekund celkem]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FR vyhodnocuje, která analytická hlediska pomáhají určitému typu úloh. Navrhne jinou sestavu a dovolí řízené porovnání proti témuž zamčenému cíli. Opakované výsledky budují důvěryhodnou zkušenost. Učí se postup, nikoli pravomoci.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https://drive.google.com/file/d/1WSzNQK18rG9qR04ucyRwgnsqPfoF9JtH/view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https://github.com/evymo/frankie/blob/main/docs/ARCHITEKTURA-v0.4.md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https://github.com/evymo/frankie/blob/main/knowledge/README.md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F40A8B-2A19-4A2F-B051-33096A1134A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[ČAS 1:08–1:20; délka 90 sekund celkem]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Zkušenosti ukládáme do vlastní Knowledge Base. Přes Git sdílí celý tým charakteristiky úloh, analytické sestavy i výsledky srovnání. Předáváme znalost metody, ne celé zadání ani odpověď.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https://drive.google.com/file/d/1WSzNQK18rG9qR04ucyRwgnsqPfoF9JtH/view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https://github.com/evymo/frankie/blob/main/docs/ARCHITEKTURA-v0.4.md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https://github.com/evymo/frankie/blob/main/knowledge/README.md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79C7F9-C8BD-4339-B9C7-5D3867E171F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[ČAS 1:20–1:30; délka 90 sekund celkem]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Máme verzi 0.4 a všech devadesát tři deterministických testů prochází. Dalším krokem je nasazení lokálního modelu a řízené experimenty. Děkujeme, tým Aisha.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https://drive.google.com/file/d/1WSzNQK18rG9qR04ucyRwgnsqPfoF9JtH/view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https://github.com/evymo/frankie/blob/main/docs/ARCHITEKTURA-v0.4.md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https://github.com/evymo/frankie/blob/main/knowledge/README.md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66C4D6-BB76-4174-B382-BC25D58D9C6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Inter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Inter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Inter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Inter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Inter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Inter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Inter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Inter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029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42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581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21211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6607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32004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7396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42793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8186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3582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8978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4371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9768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5160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80557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953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1346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742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135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53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292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502920" y="7772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502920" y="13165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502920" y="18561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502920" y="23954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502920" y="293508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502920" y="34747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502920" y="40140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502920" y="45536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502920" y="50929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502920" y="56325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502920" y="61722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548640" y="246960"/>
            <a:ext cx="319680" cy="31968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548640" y="246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71223"/>
                </a:solidFill>
                <a:effectLst/>
                <a:uFillTx/>
                <a:latin typeface="Inter Display"/>
                <a:ea typeface="Inter Display"/>
              </a:rPr>
              <a:t>F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987480" y="2469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FRANKENSTEIN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8321040" y="265320"/>
            <a:ext cx="3245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99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TÝM AISHA  /  PŘEDSTAVENÍ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640080" y="6656760"/>
            <a:ext cx="10908720" cy="360"/>
          </a:xfrm>
          <a:prstGeom prst="line">
            <a:avLst/>
          </a:prstGeom>
          <a:ln w="10160">
            <a:solidFill>
              <a:srgbClr val="1c35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64008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212256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360540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508788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657072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805320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953604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607040" y="648324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939" spc="150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01  /  07</a:t>
            </a:r>
            <a:endParaRPr b="0" lang="en-US" sz="9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6"/>
          <p:cNvSpPr/>
          <p:nvPr/>
        </p:nvSpPr>
        <p:spPr>
          <a:xfrm flipV="1">
            <a:off x="7726680" y="694800"/>
            <a:ext cx="777240" cy="29268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 flipH="1">
            <a:off x="7287480" y="987480"/>
            <a:ext cx="439200" cy="93276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7726680" y="987480"/>
            <a:ext cx="320040" cy="98748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9"/>
          <p:cNvSpPr/>
          <p:nvPr/>
        </p:nvSpPr>
        <p:spPr>
          <a:xfrm>
            <a:off x="8503920" y="694800"/>
            <a:ext cx="960120" cy="11880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50"/>
          <p:cNvSpPr/>
          <p:nvPr/>
        </p:nvSpPr>
        <p:spPr>
          <a:xfrm>
            <a:off x="8503920" y="694800"/>
            <a:ext cx="539280" cy="87768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51"/>
          <p:cNvSpPr/>
          <p:nvPr/>
        </p:nvSpPr>
        <p:spPr>
          <a:xfrm flipH="1">
            <a:off x="8046720" y="694800"/>
            <a:ext cx="457200" cy="128016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2"/>
          <p:cNvSpPr/>
          <p:nvPr/>
        </p:nvSpPr>
        <p:spPr>
          <a:xfrm flipV="1">
            <a:off x="9464040" y="713160"/>
            <a:ext cx="822960" cy="10044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3"/>
          <p:cNvSpPr/>
          <p:nvPr/>
        </p:nvSpPr>
        <p:spPr>
          <a:xfrm flipH="1">
            <a:off x="9043200" y="813600"/>
            <a:ext cx="420840" cy="75888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4"/>
          <p:cNvSpPr/>
          <p:nvPr/>
        </p:nvSpPr>
        <p:spPr>
          <a:xfrm>
            <a:off x="9464040" y="813600"/>
            <a:ext cx="466200" cy="106092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5"/>
          <p:cNvSpPr/>
          <p:nvPr/>
        </p:nvSpPr>
        <p:spPr>
          <a:xfrm>
            <a:off x="10287000" y="713160"/>
            <a:ext cx="877680" cy="42984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6"/>
          <p:cNvSpPr/>
          <p:nvPr/>
        </p:nvSpPr>
        <p:spPr>
          <a:xfrm flipH="1">
            <a:off x="9930240" y="713160"/>
            <a:ext cx="356760" cy="116136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7"/>
          <p:cNvSpPr/>
          <p:nvPr/>
        </p:nvSpPr>
        <p:spPr>
          <a:xfrm>
            <a:off x="10287000" y="713160"/>
            <a:ext cx="520920" cy="127080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8"/>
          <p:cNvSpPr/>
          <p:nvPr/>
        </p:nvSpPr>
        <p:spPr>
          <a:xfrm flipH="1">
            <a:off x="10807920" y="1143000"/>
            <a:ext cx="356760" cy="84096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9"/>
          <p:cNvSpPr/>
          <p:nvPr/>
        </p:nvSpPr>
        <p:spPr>
          <a:xfrm>
            <a:off x="11164680" y="1143000"/>
            <a:ext cx="347400" cy="132588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0"/>
          <p:cNvSpPr/>
          <p:nvPr/>
        </p:nvSpPr>
        <p:spPr>
          <a:xfrm flipH="1">
            <a:off x="9930240" y="1143000"/>
            <a:ext cx="1234440" cy="73152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1"/>
          <p:cNvSpPr/>
          <p:nvPr/>
        </p:nvSpPr>
        <p:spPr>
          <a:xfrm>
            <a:off x="7287480" y="1920240"/>
            <a:ext cx="759240" cy="5472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62"/>
          <p:cNvSpPr/>
          <p:nvPr/>
        </p:nvSpPr>
        <p:spPr>
          <a:xfrm>
            <a:off x="7287480" y="1920240"/>
            <a:ext cx="411480" cy="97812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63"/>
          <p:cNvSpPr/>
          <p:nvPr/>
        </p:nvSpPr>
        <p:spPr>
          <a:xfrm flipH="1">
            <a:off x="7698960" y="1974960"/>
            <a:ext cx="347760" cy="92340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4"/>
          <p:cNvSpPr/>
          <p:nvPr/>
        </p:nvSpPr>
        <p:spPr>
          <a:xfrm>
            <a:off x="8046720" y="1974960"/>
            <a:ext cx="493560" cy="94176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5"/>
          <p:cNvSpPr/>
          <p:nvPr/>
        </p:nvSpPr>
        <p:spPr>
          <a:xfrm flipV="1">
            <a:off x="8046720" y="1572480"/>
            <a:ext cx="996480" cy="40248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66"/>
          <p:cNvSpPr/>
          <p:nvPr/>
        </p:nvSpPr>
        <p:spPr>
          <a:xfrm>
            <a:off x="9043200" y="1572480"/>
            <a:ext cx="887040" cy="30204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7"/>
          <p:cNvSpPr/>
          <p:nvPr/>
        </p:nvSpPr>
        <p:spPr>
          <a:xfrm>
            <a:off x="9043200" y="1572480"/>
            <a:ext cx="329400" cy="109728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8"/>
          <p:cNvSpPr/>
          <p:nvPr/>
        </p:nvSpPr>
        <p:spPr>
          <a:xfrm flipH="1">
            <a:off x="8540280" y="1572480"/>
            <a:ext cx="502920" cy="134424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9"/>
          <p:cNvSpPr/>
          <p:nvPr/>
        </p:nvSpPr>
        <p:spPr>
          <a:xfrm>
            <a:off x="9930240" y="1874520"/>
            <a:ext cx="877680" cy="10944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70"/>
          <p:cNvSpPr/>
          <p:nvPr/>
        </p:nvSpPr>
        <p:spPr>
          <a:xfrm flipH="1">
            <a:off x="9372600" y="1874520"/>
            <a:ext cx="557640" cy="79524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71"/>
          <p:cNvSpPr/>
          <p:nvPr/>
        </p:nvSpPr>
        <p:spPr>
          <a:xfrm>
            <a:off x="9930240" y="1874520"/>
            <a:ext cx="448200" cy="107892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72"/>
          <p:cNvSpPr/>
          <p:nvPr/>
        </p:nvSpPr>
        <p:spPr>
          <a:xfrm>
            <a:off x="10807920" y="1983960"/>
            <a:ext cx="704160" cy="48492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73"/>
          <p:cNvSpPr/>
          <p:nvPr/>
        </p:nvSpPr>
        <p:spPr>
          <a:xfrm flipH="1">
            <a:off x="10378440" y="1983960"/>
            <a:ext cx="429480" cy="96948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74"/>
          <p:cNvSpPr/>
          <p:nvPr/>
        </p:nvSpPr>
        <p:spPr>
          <a:xfrm flipH="1">
            <a:off x="11356560" y="2468880"/>
            <a:ext cx="155520" cy="103320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75"/>
          <p:cNvSpPr/>
          <p:nvPr/>
        </p:nvSpPr>
        <p:spPr>
          <a:xfrm flipH="1">
            <a:off x="10378440" y="2468880"/>
            <a:ext cx="1133640" cy="48456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6"/>
          <p:cNvSpPr/>
          <p:nvPr/>
        </p:nvSpPr>
        <p:spPr>
          <a:xfrm>
            <a:off x="7698960" y="2898360"/>
            <a:ext cx="841320" cy="1836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7"/>
          <p:cNvSpPr/>
          <p:nvPr/>
        </p:nvSpPr>
        <p:spPr>
          <a:xfrm flipH="1">
            <a:off x="7360920" y="2898360"/>
            <a:ext cx="338040" cy="83232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78"/>
          <p:cNvSpPr/>
          <p:nvPr/>
        </p:nvSpPr>
        <p:spPr>
          <a:xfrm>
            <a:off x="7698960" y="2898360"/>
            <a:ext cx="713520" cy="108828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9"/>
          <p:cNvSpPr/>
          <p:nvPr/>
        </p:nvSpPr>
        <p:spPr>
          <a:xfrm flipV="1">
            <a:off x="8540280" y="2669760"/>
            <a:ext cx="832320" cy="24696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0"/>
          <p:cNvSpPr/>
          <p:nvPr/>
        </p:nvSpPr>
        <p:spPr>
          <a:xfrm flipH="1">
            <a:off x="8412480" y="2916720"/>
            <a:ext cx="127800" cy="106992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81"/>
          <p:cNvSpPr/>
          <p:nvPr/>
        </p:nvSpPr>
        <p:spPr>
          <a:xfrm>
            <a:off x="8540280" y="2916720"/>
            <a:ext cx="704160" cy="85032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2"/>
          <p:cNvSpPr/>
          <p:nvPr/>
        </p:nvSpPr>
        <p:spPr>
          <a:xfrm>
            <a:off x="9372600" y="2669760"/>
            <a:ext cx="1005840" cy="28368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83"/>
          <p:cNvSpPr/>
          <p:nvPr/>
        </p:nvSpPr>
        <p:spPr>
          <a:xfrm flipH="1">
            <a:off x="9244440" y="2669760"/>
            <a:ext cx="128160" cy="109728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4"/>
          <p:cNvSpPr/>
          <p:nvPr/>
        </p:nvSpPr>
        <p:spPr>
          <a:xfrm flipH="1">
            <a:off x="10149840" y="2953440"/>
            <a:ext cx="228600" cy="102420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85"/>
          <p:cNvSpPr/>
          <p:nvPr/>
        </p:nvSpPr>
        <p:spPr>
          <a:xfrm>
            <a:off x="10378440" y="2953440"/>
            <a:ext cx="978120" cy="54864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86"/>
          <p:cNvSpPr/>
          <p:nvPr/>
        </p:nvSpPr>
        <p:spPr>
          <a:xfrm flipH="1">
            <a:off x="9244440" y="2953440"/>
            <a:ext cx="1134000" cy="81360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87"/>
          <p:cNvSpPr/>
          <p:nvPr/>
        </p:nvSpPr>
        <p:spPr>
          <a:xfrm flipH="1">
            <a:off x="11137320" y="3502080"/>
            <a:ext cx="219240" cy="80460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88"/>
          <p:cNvSpPr/>
          <p:nvPr/>
        </p:nvSpPr>
        <p:spPr>
          <a:xfrm flipH="1">
            <a:off x="10149840" y="3502080"/>
            <a:ext cx="1206720" cy="47556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89"/>
          <p:cNvSpPr/>
          <p:nvPr/>
        </p:nvSpPr>
        <p:spPr>
          <a:xfrm>
            <a:off x="7360920" y="3730680"/>
            <a:ext cx="1051560" cy="25596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90"/>
          <p:cNvSpPr/>
          <p:nvPr/>
        </p:nvSpPr>
        <p:spPr>
          <a:xfrm>
            <a:off x="7360920" y="3730680"/>
            <a:ext cx="520920" cy="122508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91"/>
          <p:cNvSpPr/>
          <p:nvPr/>
        </p:nvSpPr>
        <p:spPr>
          <a:xfrm>
            <a:off x="8412480" y="3986640"/>
            <a:ext cx="502920" cy="66744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92"/>
          <p:cNvSpPr/>
          <p:nvPr/>
        </p:nvSpPr>
        <p:spPr>
          <a:xfrm flipV="1">
            <a:off x="8412480" y="3767040"/>
            <a:ext cx="831960" cy="21960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93"/>
          <p:cNvSpPr/>
          <p:nvPr/>
        </p:nvSpPr>
        <p:spPr>
          <a:xfrm flipH="1">
            <a:off x="7881840" y="3986640"/>
            <a:ext cx="530640" cy="96912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94"/>
          <p:cNvSpPr/>
          <p:nvPr/>
        </p:nvSpPr>
        <p:spPr>
          <a:xfrm>
            <a:off x="9244440" y="3767040"/>
            <a:ext cx="905400" cy="21060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95"/>
          <p:cNvSpPr/>
          <p:nvPr/>
        </p:nvSpPr>
        <p:spPr>
          <a:xfrm flipH="1">
            <a:off x="8915400" y="3767040"/>
            <a:ext cx="329040" cy="88704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96"/>
          <p:cNvSpPr/>
          <p:nvPr/>
        </p:nvSpPr>
        <p:spPr>
          <a:xfrm>
            <a:off x="9244440" y="3767040"/>
            <a:ext cx="402480" cy="118872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97"/>
          <p:cNvSpPr/>
          <p:nvPr/>
        </p:nvSpPr>
        <p:spPr>
          <a:xfrm>
            <a:off x="10149840" y="3977640"/>
            <a:ext cx="987480" cy="32904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98"/>
          <p:cNvSpPr/>
          <p:nvPr/>
        </p:nvSpPr>
        <p:spPr>
          <a:xfrm flipH="1">
            <a:off x="9646920" y="3977640"/>
            <a:ext cx="502920" cy="97812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99"/>
          <p:cNvSpPr/>
          <p:nvPr/>
        </p:nvSpPr>
        <p:spPr>
          <a:xfrm flipH="1">
            <a:off x="8915400" y="3977640"/>
            <a:ext cx="1234440" cy="67644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00"/>
          <p:cNvSpPr/>
          <p:nvPr/>
        </p:nvSpPr>
        <p:spPr>
          <a:xfrm>
            <a:off x="11137320" y="4306680"/>
            <a:ext cx="384120" cy="88704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01"/>
          <p:cNvSpPr/>
          <p:nvPr/>
        </p:nvSpPr>
        <p:spPr>
          <a:xfrm flipH="1">
            <a:off x="10716480" y="4306680"/>
            <a:ext cx="420840" cy="96912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02"/>
          <p:cNvSpPr/>
          <p:nvPr/>
        </p:nvSpPr>
        <p:spPr>
          <a:xfrm>
            <a:off x="7881840" y="4955760"/>
            <a:ext cx="347760" cy="85068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03"/>
          <p:cNvSpPr/>
          <p:nvPr/>
        </p:nvSpPr>
        <p:spPr>
          <a:xfrm flipV="1">
            <a:off x="7881840" y="4654080"/>
            <a:ext cx="1033560" cy="30168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04"/>
          <p:cNvSpPr/>
          <p:nvPr/>
        </p:nvSpPr>
        <p:spPr>
          <a:xfrm>
            <a:off x="8915400" y="4654080"/>
            <a:ext cx="731520" cy="30168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05"/>
          <p:cNvSpPr/>
          <p:nvPr/>
        </p:nvSpPr>
        <p:spPr>
          <a:xfrm>
            <a:off x="8915400" y="4654080"/>
            <a:ext cx="274320" cy="101520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06"/>
          <p:cNvSpPr/>
          <p:nvPr/>
        </p:nvSpPr>
        <p:spPr>
          <a:xfrm flipH="1">
            <a:off x="8229600" y="4654080"/>
            <a:ext cx="685800" cy="115236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07"/>
          <p:cNvSpPr/>
          <p:nvPr/>
        </p:nvSpPr>
        <p:spPr>
          <a:xfrm flipH="1">
            <a:off x="9189720" y="4955760"/>
            <a:ext cx="457200" cy="71352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08"/>
          <p:cNvSpPr/>
          <p:nvPr/>
        </p:nvSpPr>
        <p:spPr>
          <a:xfrm>
            <a:off x="9646920" y="4955760"/>
            <a:ext cx="457200" cy="96012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9"/>
          <p:cNvSpPr/>
          <p:nvPr/>
        </p:nvSpPr>
        <p:spPr>
          <a:xfrm>
            <a:off x="9646920" y="4955760"/>
            <a:ext cx="1069560" cy="320040"/>
          </a:xfrm>
          <a:prstGeom prst="line">
            <a:avLst/>
          </a:prstGeom>
          <a:ln w="1016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10"/>
          <p:cNvSpPr/>
          <p:nvPr/>
        </p:nvSpPr>
        <p:spPr>
          <a:xfrm>
            <a:off x="10716480" y="5275800"/>
            <a:ext cx="420840" cy="62208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11"/>
          <p:cNvSpPr/>
          <p:nvPr/>
        </p:nvSpPr>
        <p:spPr>
          <a:xfrm flipV="1">
            <a:off x="10716480" y="5193720"/>
            <a:ext cx="804960" cy="8208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12"/>
          <p:cNvSpPr/>
          <p:nvPr/>
        </p:nvSpPr>
        <p:spPr>
          <a:xfrm flipH="1">
            <a:off x="10104120" y="5275800"/>
            <a:ext cx="612360" cy="64008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13"/>
          <p:cNvSpPr/>
          <p:nvPr/>
        </p:nvSpPr>
        <p:spPr>
          <a:xfrm flipH="1">
            <a:off x="11137320" y="5193720"/>
            <a:ext cx="384120" cy="70416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14"/>
          <p:cNvSpPr/>
          <p:nvPr/>
        </p:nvSpPr>
        <p:spPr>
          <a:xfrm flipV="1">
            <a:off x="8229600" y="5669280"/>
            <a:ext cx="960120" cy="13716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15"/>
          <p:cNvSpPr/>
          <p:nvPr/>
        </p:nvSpPr>
        <p:spPr>
          <a:xfrm>
            <a:off x="9189720" y="5669280"/>
            <a:ext cx="914400" cy="24660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16"/>
          <p:cNvSpPr/>
          <p:nvPr/>
        </p:nvSpPr>
        <p:spPr>
          <a:xfrm flipV="1">
            <a:off x="10104120" y="5897880"/>
            <a:ext cx="1033200" cy="18000"/>
          </a:xfrm>
          <a:prstGeom prst="line">
            <a:avLst/>
          </a:prstGeom>
          <a:ln w="13970">
            <a:solidFill>
              <a:srgbClr val="428b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17"/>
          <p:cNvSpPr/>
          <p:nvPr/>
        </p:nvSpPr>
        <p:spPr>
          <a:xfrm>
            <a:off x="7287840" y="1252800"/>
            <a:ext cx="4352040" cy="4352040"/>
          </a:xfrm>
          <a:prstGeom prst="ellipse">
            <a:avLst/>
          </a:prstGeom>
          <a:noFill/>
          <a:ln w="11430">
            <a:solidFill>
              <a:srgbClr val="428bff">
                <a:alpha val="17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18"/>
          <p:cNvSpPr/>
          <p:nvPr/>
        </p:nvSpPr>
        <p:spPr>
          <a:xfrm>
            <a:off x="7781400" y="1746360"/>
            <a:ext cx="3364560" cy="3364560"/>
          </a:xfrm>
          <a:prstGeom prst="ellipse">
            <a:avLst/>
          </a:prstGeom>
          <a:noFill/>
          <a:ln w="15240">
            <a:solidFill>
              <a:srgbClr val="428bff">
                <a:alpha val="2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19"/>
          <p:cNvSpPr/>
          <p:nvPr/>
        </p:nvSpPr>
        <p:spPr>
          <a:xfrm>
            <a:off x="8421480" y="2386440"/>
            <a:ext cx="2084400" cy="2084400"/>
          </a:xfrm>
          <a:prstGeom prst="ellipse">
            <a:avLst/>
          </a:prstGeom>
          <a:noFill/>
          <a:ln w="8890">
            <a:solidFill>
              <a:srgbClr val="67dbff">
                <a:alpha val="2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20"/>
          <p:cNvSpPr/>
          <p:nvPr/>
        </p:nvSpPr>
        <p:spPr>
          <a:xfrm>
            <a:off x="7662600" y="923400"/>
            <a:ext cx="127800" cy="12780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21"/>
          <p:cNvSpPr/>
          <p:nvPr/>
        </p:nvSpPr>
        <p:spPr>
          <a:xfrm>
            <a:off x="8475480" y="66672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22"/>
          <p:cNvSpPr/>
          <p:nvPr/>
        </p:nvSpPr>
        <p:spPr>
          <a:xfrm>
            <a:off x="9435600" y="78552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23"/>
          <p:cNvSpPr/>
          <p:nvPr/>
        </p:nvSpPr>
        <p:spPr>
          <a:xfrm>
            <a:off x="10258560" y="68472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24"/>
          <p:cNvSpPr/>
          <p:nvPr/>
        </p:nvSpPr>
        <p:spPr>
          <a:xfrm>
            <a:off x="11120040" y="1098360"/>
            <a:ext cx="89280" cy="8928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25"/>
          <p:cNvSpPr/>
          <p:nvPr/>
        </p:nvSpPr>
        <p:spPr>
          <a:xfrm>
            <a:off x="7259400" y="189180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26"/>
          <p:cNvSpPr/>
          <p:nvPr/>
        </p:nvSpPr>
        <p:spPr>
          <a:xfrm>
            <a:off x="7982640" y="1911240"/>
            <a:ext cx="127800" cy="12780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27"/>
          <p:cNvSpPr/>
          <p:nvPr/>
        </p:nvSpPr>
        <p:spPr>
          <a:xfrm>
            <a:off x="9015120" y="154440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28"/>
          <p:cNvSpPr/>
          <p:nvPr/>
        </p:nvSpPr>
        <p:spPr>
          <a:xfrm>
            <a:off x="9885600" y="1829880"/>
            <a:ext cx="89280" cy="8928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29"/>
          <p:cNvSpPr/>
          <p:nvPr/>
        </p:nvSpPr>
        <p:spPr>
          <a:xfrm>
            <a:off x="10779840" y="195588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30"/>
          <p:cNvSpPr/>
          <p:nvPr/>
        </p:nvSpPr>
        <p:spPr>
          <a:xfrm>
            <a:off x="11484000" y="244044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31"/>
          <p:cNvSpPr/>
          <p:nvPr/>
        </p:nvSpPr>
        <p:spPr>
          <a:xfrm>
            <a:off x="7670880" y="287028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32"/>
          <p:cNvSpPr/>
          <p:nvPr/>
        </p:nvSpPr>
        <p:spPr>
          <a:xfrm>
            <a:off x="8476560" y="2853000"/>
            <a:ext cx="127800" cy="12780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33"/>
          <p:cNvSpPr/>
          <p:nvPr/>
        </p:nvSpPr>
        <p:spPr>
          <a:xfrm>
            <a:off x="9344160" y="264168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34"/>
          <p:cNvSpPr/>
          <p:nvPr/>
        </p:nvSpPr>
        <p:spPr>
          <a:xfrm>
            <a:off x="10350000" y="292500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35"/>
          <p:cNvSpPr/>
          <p:nvPr/>
        </p:nvSpPr>
        <p:spPr>
          <a:xfrm>
            <a:off x="11328480" y="347364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36"/>
          <p:cNvSpPr/>
          <p:nvPr/>
        </p:nvSpPr>
        <p:spPr>
          <a:xfrm>
            <a:off x="7316280" y="3686040"/>
            <a:ext cx="89280" cy="8928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37"/>
          <p:cNvSpPr/>
          <p:nvPr/>
        </p:nvSpPr>
        <p:spPr>
          <a:xfrm>
            <a:off x="8384040" y="395856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38"/>
          <p:cNvSpPr/>
          <p:nvPr/>
        </p:nvSpPr>
        <p:spPr>
          <a:xfrm>
            <a:off x="9180720" y="3703320"/>
            <a:ext cx="127800" cy="12780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39"/>
          <p:cNvSpPr/>
          <p:nvPr/>
        </p:nvSpPr>
        <p:spPr>
          <a:xfrm>
            <a:off x="10121400" y="394920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40"/>
          <p:cNvSpPr/>
          <p:nvPr/>
        </p:nvSpPr>
        <p:spPr>
          <a:xfrm>
            <a:off x="11092680" y="4262040"/>
            <a:ext cx="89280" cy="8928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41"/>
          <p:cNvSpPr/>
          <p:nvPr/>
        </p:nvSpPr>
        <p:spPr>
          <a:xfrm>
            <a:off x="7853760" y="492768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42"/>
          <p:cNvSpPr/>
          <p:nvPr/>
        </p:nvSpPr>
        <p:spPr>
          <a:xfrm>
            <a:off x="8886960" y="462600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43"/>
          <p:cNvSpPr/>
          <p:nvPr/>
        </p:nvSpPr>
        <p:spPr>
          <a:xfrm>
            <a:off x="9618480" y="492768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44"/>
          <p:cNvSpPr/>
          <p:nvPr/>
        </p:nvSpPr>
        <p:spPr>
          <a:xfrm>
            <a:off x="10652760" y="5212080"/>
            <a:ext cx="127800" cy="12780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45"/>
          <p:cNvSpPr/>
          <p:nvPr/>
        </p:nvSpPr>
        <p:spPr>
          <a:xfrm>
            <a:off x="11493000" y="516528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46"/>
          <p:cNvSpPr/>
          <p:nvPr/>
        </p:nvSpPr>
        <p:spPr>
          <a:xfrm>
            <a:off x="8201160" y="577800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47"/>
          <p:cNvSpPr/>
          <p:nvPr/>
        </p:nvSpPr>
        <p:spPr>
          <a:xfrm>
            <a:off x="9161280" y="564084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48"/>
          <p:cNvSpPr/>
          <p:nvPr/>
        </p:nvSpPr>
        <p:spPr>
          <a:xfrm>
            <a:off x="10059480" y="5871240"/>
            <a:ext cx="89280" cy="8928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49"/>
          <p:cNvSpPr/>
          <p:nvPr/>
        </p:nvSpPr>
        <p:spPr>
          <a:xfrm>
            <a:off x="11108880" y="5869440"/>
            <a:ext cx="56160" cy="56160"/>
          </a:xfrm>
          <a:prstGeom prst="ellipse">
            <a:avLst/>
          </a:prstGeom>
          <a:solidFill>
            <a:srgbClr val="428bff">
              <a:alpha val="74000"/>
            </a:srgbClr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" bIns="-46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50"/>
          <p:cNvSpPr/>
          <p:nvPr/>
        </p:nvSpPr>
        <p:spPr>
          <a:xfrm>
            <a:off x="640080" y="1344240"/>
            <a:ext cx="72720" cy="239544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51"/>
          <p:cNvSpPr/>
          <p:nvPr/>
        </p:nvSpPr>
        <p:spPr>
          <a:xfrm>
            <a:off x="822960" y="1435680"/>
            <a:ext cx="4754520" cy="420120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2"/>
          <p:cNvSpPr/>
          <p:nvPr/>
        </p:nvSpPr>
        <p:spPr>
          <a:xfrm>
            <a:off x="941760" y="1435680"/>
            <a:ext cx="45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260" spc="99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AUTONOMNÍ AGENT  ·  ADAPTIVNÍ ANALÝZA</a:t>
            </a:r>
            <a:endParaRPr b="0" lang="en-US" sz="12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53"/>
          <p:cNvSpPr/>
          <p:nvPr/>
        </p:nvSpPr>
        <p:spPr>
          <a:xfrm>
            <a:off x="804600" y="1993320"/>
            <a:ext cx="1074384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6000" spc="-159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FRANKENSTEIN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54"/>
          <p:cNvSpPr/>
          <p:nvPr/>
        </p:nvSpPr>
        <p:spPr>
          <a:xfrm>
            <a:off x="822960" y="3044880"/>
            <a:ext cx="8777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Ze zadání vzniká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55"/>
          <p:cNvSpPr/>
          <p:nvPr/>
        </p:nvSpPr>
        <p:spPr>
          <a:xfrm>
            <a:off x="822960" y="3493080"/>
            <a:ext cx="886932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67dbff"/>
                </a:solidFill>
                <a:effectLst/>
                <a:uFillTx/>
                <a:latin typeface="Inter Display"/>
                <a:ea typeface="Inter Display"/>
              </a:rPr>
              <a:t>ověřený kontrakt.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56"/>
          <p:cNvSpPr/>
          <p:nvPr/>
        </p:nvSpPr>
        <p:spPr>
          <a:xfrm>
            <a:off x="841320" y="42336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Systém, který zdokonaluje vlastní postup analýzy.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57"/>
          <p:cNvSpPr/>
          <p:nvPr/>
        </p:nvSpPr>
        <p:spPr>
          <a:xfrm>
            <a:off x="640080" y="5330880"/>
            <a:ext cx="10899360" cy="905040"/>
          </a:xfrm>
          <a:prstGeom prst="roundRect">
            <a:avLst>
              <a:gd name="adj" fmla="val 16162"/>
            </a:avLst>
          </a:prstGeom>
          <a:solidFill>
            <a:srgbClr val="11243b">
              <a:alpha val="80000"/>
            </a:srgbClr>
          </a:solidFill>
          <a:ln w="889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58"/>
          <p:cNvSpPr/>
          <p:nvPr/>
        </p:nvSpPr>
        <p:spPr>
          <a:xfrm>
            <a:off x="649080" y="5340240"/>
            <a:ext cx="68400" cy="87732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59"/>
          <p:cNvSpPr/>
          <p:nvPr/>
        </p:nvSpPr>
        <p:spPr>
          <a:xfrm>
            <a:off x="887040" y="5495400"/>
            <a:ext cx="1096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pc="181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AISHA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60"/>
          <p:cNvSpPr/>
          <p:nvPr/>
        </p:nvSpPr>
        <p:spPr>
          <a:xfrm>
            <a:off x="2002320" y="5504400"/>
            <a:ext cx="360" cy="539640"/>
          </a:xfrm>
          <a:prstGeom prst="line">
            <a:avLst/>
          </a:prstGeom>
          <a:ln w="1270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61"/>
          <p:cNvSpPr/>
          <p:nvPr/>
        </p:nvSpPr>
        <p:spPr>
          <a:xfrm>
            <a:off x="2258640" y="5449680"/>
            <a:ext cx="260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2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Zdeněk Bělka</a:t>
            </a:r>
            <a:endParaRPr b="0" lang="en-US" sz="16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62"/>
          <p:cNvSpPr/>
          <p:nvPr/>
        </p:nvSpPr>
        <p:spPr>
          <a:xfrm>
            <a:off x="4956120" y="5449680"/>
            <a:ext cx="3044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2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Ladislav Habásko</a:t>
            </a:r>
            <a:endParaRPr b="0" lang="en-US" sz="16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63"/>
          <p:cNvSpPr/>
          <p:nvPr/>
        </p:nvSpPr>
        <p:spPr>
          <a:xfrm>
            <a:off x="8339400" y="5449680"/>
            <a:ext cx="2514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2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Martin Landa</a:t>
            </a:r>
            <a:endParaRPr b="0" lang="en-US" sz="16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5029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"/>
          <p:cNvSpPr/>
          <p:nvPr/>
        </p:nvSpPr>
        <p:spPr>
          <a:xfrm>
            <a:off x="1042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1581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21211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26607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32004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6"/>
          <p:cNvSpPr/>
          <p:nvPr/>
        </p:nvSpPr>
        <p:spPr>
          <a:xfrm>
            <a:off x="37396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7"/>
          <p:cNvSpPr/>
          <p:nvPr/>
        </p:nvSpPr>
        <p:spPr>
          <a:xfrm>
            <a:off x="42793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48186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9"/>
          <p:cNvSpPr/>
          <p:nvPr/>
        </p:nvSpPr>
        <p:spPr>
          <a:xfrm>
            <a:off x="53582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0"/>
          <p:cNvSpPr/>
          <p:nvPr/>
        </p:nvSpPr>
        <p:spPr>
          <a:xfrm>
            <a:off x="58978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64371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2"/>
          <p:cNvSpPr/>
          <p:nvPr/>
        </p:nvSpPr>
        <p:spPr>
          <a:xfrm>
            <a:off x="69768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3"/>
          <p:cNvSpPr/>
          <p:nvPr/>
        </p:nvSpPr>
        <p:spPr>
          <a:xfrm>
            <a:off x="75160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4"/>
          <p:cNvSpPr/>
          <p:nvPr/>
        </p:nvSpPr>
        <p:spPr>
          <a:xfrm>
            <a:off x="80557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5"/>
          <p:cNvSpPr/>
          <p:nvPr/>
        </p:nvSpPr>
        <p:spPr>
          <a:xfrm>
            <a:off x="85953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6"/>
          <p:cNvSpPr/>
          <p:nvPr/>
        </p:nvSpPr>
        <p:spPr>
          <a:xfrm>
            <a:off x="91346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7"/>
          <p:cNvSpPr/>
          <p:nvPr/>
        </p:nvSpPr>
        <p:spPr>
          <a:xfrm>
            <a:off x="96742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8"/>
          <p:cNvSpPr/>
          <p:nvPr/>
        </p:nvSpPr>
        <p:spPr>
          <a:xfrm>
            <a:off x="102135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9"/>
          <p:cNvSpPr/>
          <p:nvPr/>
        </p:nvSpPr>
        <p:spPr>
          <a:xfrm>
            <a:off x="10753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0"/>
          <p:cNvSpPr/>
          <p:nvPr/>
        </p:nvSpPr>
        <p:spPr>
          <a:xfrm>
            <a:off x="11292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1"/>
          <p:cNvSpPr/>
          <p:nvPr/>
        </p:nvSpPr>
        <p:spPr>
          <a:xfrm>
            <a:off x="502920" y="7772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2"/>
          <p:cNvSpPr/>
          <p:nvPr/>
        </p:nvSpPr>
        <p:spPr>
          <a:xfrm>
            <a:off x="502920" y="13165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3"/>
          <p:cNvSpPr/>
          <p:nvPr/>
        </p:nvSpPr>
        <p:spPr>
          <a:xfrm>
            <a:off x="502920" y="18561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4"/>
          <p:cNvSpPr/>
          <p:nvPr/>
        </p:nvSpPr>
        <p:spPr>
          <a:xfrm>
            <a:off x="502920" y="23954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5"/>
          <p:cNvSpPr/>
          <p:nvPr/>
        </p:nvSpPr>
        <p:spPr>
          <a:xfrm>
            <a:off x="502920" y="293508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6"/>
          <p:cNvSpPr/>
          <p:nvPr/>
        </p:nvSpPr>
        <p:spPr>
          <a:xfrm>
            <a:off x="502920" y="34747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7"/>
          <p:cNvSpPr/>
          <p:nvPr/>
        </p:nvSpPr>
        <p:spPr>
          <a:xfrm>
            <a:off x="502920" y="40140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8"/>
          <p:cNvSpPr/>
          <p:nvPr/>
        </p:nvSpPr>
        <p:spPr>
          <a:xfrm>
            <a:off x="502920" y="45536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9"/>
          <p:cNvSpPr/>
          <p:nvPr/>
        </p:nvSpPr>
        <p:spPr>
          <a:xfrm>
            <a:off x="502920" y="50929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30"/>
          <p:cNvSpPr/>
          <p:nvPr/>
        </p:nvSpPr>
        <p:spPr>
          <a:xfrm>
            <a:off x="502920" y="56325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1"/>
          <p:cNvSpPr/>
          <p:nvPr/>
        </p:nvSpPr>
        <p:spPr>
          <a:xfrm>
            <a:off x="502920" y="61722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3"/>
          <p:cNvSpPr/>
          <p:nvPr/>
        </p:nvSpPr>
        <p:spPr>
          <a:xfrm>
            <a:off x="548640" y="246960"/>
            <a:ext cx="319680" cy="31968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4"/>
          <p:cNvSpPr/>
          <p:nvPr/>
        </p:nvSpPr>
        <p:spPr>
          <a:xfrm>
            <a:off x="548640" y="246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71223"/>
                </a:solidFill>
                <a:effectLst/>
                <a:uFillTx/>
                <a:latin typeface="Inter Display"/>
                <a:ea typeface="Inter Display"/>
              </a:rPr>
              <a:t>F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5"/>
          <p:cNvSpPr/>
          <p:nvPr/>
        </p:nvSpPr>
        <p:spPr>
          <a:xfrm>
            <a:off x="987480" y="2469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FRANKENSTEIN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6"/>
          <p:cNvSpPr/>
          <p:nvPr/>
        </p:nvSpPr>
        <p:spPr>
          <a:xfrm>
            <a:off x="8321040" y="265320"/>
            <a:ext cx="3245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99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01  /  PROČ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7"/>
          <p:cNvSpPr/>
          <p:nvPr/>
        </p:nvSpPr>
        <p:spPr>
          <a:xfrm>
            <a:off x="640080" y="6656760"/>
            <a:ext cx="10908720" cy="360"/>
          </a:xfrm>
          <a:prstGeom prst="line">
            <a:avLst/>
          </a:prstGeom>
          <a:ln w="10160">
            <a:solidFill>
              <a:srgbClr val="1c35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38"/>
          <p:cNvSpPr/>
          <p:nvPr/>
        </p:nvSpPr>
        <p:spPr>
          <a:xfrm>
            <a:off x="64008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9"/>
          <p:cNvSpPr/>
          <p:nvPr/>
        </p:nvSpPr>
        <p:spPr>
          <a:xfrm>
            <a:off x="212256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40"/>
          <p:cNvSpPr/>
          <p:nvPr/>
        </p:nvSpPr>
        <p:spPr>
          <a:xfrm>
            <a:off x="360540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1"/>
          <p:cNvSpPr/>
          <p:nvPr/>
        </p:nvSpPr>
        <p:spPr>
          <a:xfrm>
            <a:off x="508788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42"/>
          <p:cNvSpPr/>
          <p:nvPr/>
        </p:nvSpPr>
        <p:spPr>
          <a:xfrm>
            <a:off x="657072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43"/>
          <p:cNvSpPr/>
          <p:nvPr/>
        </p:nvSpPr>
        <p:spPr>
          <a:xfrm>
            <a:off x="805320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44"/>
          <p:cNvSpPr/>
          <p:nvPr/>
        </p:nvSpPr>
        <p:spPr>
          <a:xfrm>
            <a:off x="953604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5"/>
          <p:cNvSpPr/>
          <p:nvPr/>
        </p:nvSpPr>
        <p:spPr>
          <a:xfrm>
            <a:off x="10607040" y="648324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939" spc="150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02  /  07</a:t>
            </a:r>
            <a:endParaRPr b="0" lang="en-US" sz="9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46"/>
          <p:cNvSpPr/>
          <p:nvPr/>
        </p:nvSpPr>
        <p:spPr>
          <a:xfrm>
            <a:off x="640080" y="786240"/>
            <a:ext cx="2294640" cy="319680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7"/>
          <p:cNvSpPr/>
          <p:nvPr/>
        </p:nvSpPr>
        <p:spPr>
          <a:xfrm>
            <a:off x="758880" y="78624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99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VÝZVA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8"/>
          <p:cNvSpPr/>
          <p:nvPr/>
        </p:nvSpPr>
        <p:spPr>
          <a:xfrm>
            <a:off x="640080" y="1197720"/>
            <a:ext cx="1099080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400" spc="-51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Surový prompt není kontrakt.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9"/>
          <p:cNvSpPr/>
          <p:nvPr/>
        </p:nvSpPr>
        <p:spPr>
          <a:xfrm>
            <a:off x="640080" y="2002680"/>
            <a:ext cx="4800240" cy="3547440"/>
          </a:xfrm>
          <a:prstGeom prst="roundRect">
            <a:avLst>
              <a:gd name="adj" fmla="val 5412"/>
            </a:avLst>
          </a:prstGeom>
          <a:solidFill>
            <a:srgbClr val="11243b">
              <a:alpha val="88000"/>
            </a:srgbClr>
          </a:solidFill>
          <a:ln w="12065">
            <a:solidFill>
              <a:srgbClr val="f5b9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0"/>
          <p:cNvSpPr/>
          <p:nvPr/>
        </p:nvSpPr>
        <p:spPr>
          <a:xfrm>
            <a:off x="887040" y="22129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400" spc="99" strike="noStrike" u="none">
                <a:solidFill>
                  <a:srgbClr val="f5b94e"/>
                </a:solidFill>
                <a:effectLst/>
                <a:uFillTx/>
                <a:latin typeface="Inter"/>
                <a:ea typeface="Inter"/>
              </a:rPr>
              <a:t>PŘED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51"/>
          <p:cNvSpPr/>
          <p:nvPr/>
        </p:nvSpPr>
        <p:spPr>
          <a:xfrm>
            <a:off x="887040" y="2706480"/>
            <a:ext cx="4114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Neúplné zadání</a:t>
            </a:r>
            <a:endParaRPr b="0" lang="en-US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52"/>
          <p:cNvSpPr/>
          <p:nvPr/>
        </p:nvSpPr>
        <p:spPr>
          <a:xfrm rot="21180000">
            <a:off x="978120" y="3300840"/>
            <a:ext cx="2002320" cy="585000"/>
          </a:xfrm>
          <a:prstGeom prst="roundRect">
            <a:avLst>
              <a:gd name="adj" fmla="val 20313"/>
            </a:avLst>
          </a:prstGeom>
          <a:solidFill>
            <a:srgbClr val="453322">
              <a:alpha val="89000"/>
            </a:srgbClr>
          </a:solidFill>
          <a:ln w="10160">
            <a:solidFill>
              <a:srgbClr val="f5b94e">
                <a:alpha val="5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53"/>
          <p:cNvSpPr/>
          <p:nvPr/>
        </p:nvSpPr>
        <p:spPr>
          <a:xfrm rot="21180000">
            <a:off x="1097280" y="3337200"/>
            <a:ext cx="1773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60" strike="noStrike" u="none">
                <a:solidFill>
                  <a:srgbClr val="ffda86"/>
                </a:solidFill>
                <a:effectLst/>
                <a:uFillTx/>
                <a:latin typeface="Inter"/>
                <a:ea typeface="Inter"/>
              </a:rPr>
              <a:t>Co je vlastně cíl?</a:t>
            </a:r>
            <a:endParaRPr b="0" lang="en-US" sz="13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4"/>
          <p:cNvSpPr/>
          <p:nvPr/>
        </p:nvSpPr>
        <p:spPr>
          <a:xfrm rot="300000">
            <a:off x="2834640" y="3355920"/>
            <a:ext cx="2084400" cy="585000"/>
          </a:xfrm>
          <a:prstGeom prst="roundRect">
            <a:avLst>
              <a:gd name="adj" fmla="val 20313"/>
            </a:avLst>
          </a:prstGeom>
          <a:solidFill>
            <a:srgbClr val="453322">
              <a:alpha val="89000"/>
            </a:srgbClr>
          </a:solidFill>
          <a:ln w="10160">
            <a:solidFill>
              <a:srgbClr val="f5b94e">
                <a:alpha val="5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5"/>
          <p:cNvSpPr/>
          <p:nvPr/>
        </p:nvSpPr>
        <p:spPr>
          <a:xfrm rot="300000">
            <a:off x="2953440" y="3392280"/>
            <a:ext cx="18558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60" strike="noStrike" u="none">
                <a:solidFill>
                  <a:srgbClr val="ffda86"/>
                </a:solidFill>
                <a:effectLst/>
                <a:uFillTx/>
                <a:latin typeface="Inter"/>
                <a:ea typeface="Inter"/>
              </a:rPr>
              <a:t>Jaký má být výstup?</a:t>
            </a:r>
            <a:endParaRPr b="0" lang="en-US" sz="13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56"/>
          <p:cNvSpPr/>
          <p:nvPr/>
        </p:nvSpPr>
        <p:spPr>
          <a:xfrm rot="420000">
            <a:off x="1261800" y="4196880"/>
            <a:ext cx="1618200" cy="511560"/>
          </a:xfrm>
          <a:prstGeom prst="roundRect">
            <a:avLst>
              <a:gd name="adj" fmla="val 23214"/>
            </a:avLst>
          </a:prstGeom>
          <a:solidFill>
            <a:srgbClr val="453322">
              <a:alpha val="89000"/>
            </a:srgbClr>
          </a:solidFill>
          <a:ln w="10160">
            <a:solidFill>
              <a:srgbClr val="f5b94e">
                <a:alpha val="5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57"/>
          <p:cNvSpPr/>
          <p:nvPr/>
        </p:nvSpPr>
        <p:spPr>
          <a:xfrm rot="420000">
            <a:off x="1380600" y="4233240"/>
            <a:ext cx="13896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60" strike="noStrike" u="none">
                <a:solidFill>
                  <a:srgbClr val="ffda86"/>
                </a:solidFill>
                <a:effectLst/>
                <a:uFillTx/>
                <a:latin typeface="Inter"/>
                <a:ea typeface="Inter"/>
              </a:rPr>
              <a:t>Ověřeno?</a:t>
            </a:r>
            <a:endParaRPr b="0" lang="en-US" sz="13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58"/>
          <p:cNvSpPr/>
          <p:nvPr/>
        </p:nvSpPr>
        <p:spPr>
          <a:xfrm rot="21240000">
            <a:off x="3191040" y="4242600"/>
            <a:ext cx="1627200" cy="529920"/>
          </a:xfrm>
          <a:prstGeom prst="roundRect">
            <a:avLst>
              <a:gd name="adj" fmla="val 22414"/>
            </a:avLst>
          </a:prstGeom>
          <a:solidFill>
            <a:srgbClr val="453322">
              <a:alpha val="89000"/>
            </a:srgbClr>
          </a:solidFill>
          <a:ln w="10160">
            <a:solidFill>
              <a:srgbClr val="f5b94e">
                <a:alpha val="5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59"/>
          <p:cNvSpPr/>
          <p:nvPr/>
        </p:nvSpPr>
        <p:spPr>
          <a:xfrm rot="21240000">
            <a:off x="3310200" y="4279320"/>
            <a:ext cx="1398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60" strike="noStrike" u="none">
                <a:solidFill>
                  <a:srgbClr val="ffda86"/>
                </a:solidFill>
                <a:effectLst/>
                <a:uFillTx/>
                <a:latin typeface="Inter"/>
                <a:ea typeface="Inter"/>
              </a:rPr>
              <a:t>Smí to udělat?</a:t>
            </a:r>
            <a:endParaRPr b="0" lang="en-US" sz="136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60"/>
          <p:cNvSpPr/>
          <p:nvPr/>
        </p:nvSpPr>
        <p:spPr>
          <a:xfrm>
            <a:off x="923400" y="5065920"/>
            <a:ext cx="42058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430" strike="noStrike" u="none">
                <a:solidFill>
                  <a:srgbClr val="ffda86"/>
                </a:solidFill>
                <a:effectLst/>
                <a:uFillTx/>
                <a:latin typeface="Inter"/>
                <a:ea typeface="Inter"/>
              </a:rPr>
              <a:t>posun cíle   •   domněnky   •   bez důkazů</a:t>
            </a:r>
            <a:endParaRPr b="0" lang="en-US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61"/>
          <p:cNvSpPr/>
          <p:nvPr/>
        </p:nvSpPr>
        <p:spPr>
          <a:xfrm>
            <a:off x="5660280" y="3328560"/>
            <a:ext cx="877320" cy="877320"/>
          </a:xfrm>
          <a:prstGeom prst="ellipse">
            <a:avLst/>
          </a:prstGeom>
          <a:solidFill>
            <a:srgbClr val="428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2"/>
          <p:cNvSpPr/>
          <p:nvPr/>
        </p:nvSpPr>
        <p:spPr>
          <a:xfrm>
            <a:off x="5650920" y="3355920"/>
            <a:ext cx="8956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71223"/>
                </a:solidFill>
                <a:effectLst/>
                <a:uFillTx/>
                <a:latin typeface="Inter"/>
                <a:ea typeface="Inter"/>
              </a:rPr>
              <a:t>→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63"/>
          <p:cNvSpPr/>
          <p:nvPr/>
        </p:nvSpPr>
        <p:spPr>
          <a:xfrm>
            <a:off x="6729840" y="2002680"/>
            <a:ext cx="4836960" cy="3547440"/>
          </a:xfrm>
          <a:prstGeom prst="roundRect">
            <a:avLst>
              <a:gd name="adj" fmla="val 5412"/>
            </a:avLst>
          </a:prstGeom>
          <a:solidFill>
            <a:srgbClr val="11243b">
              <a:alpha val="92000"/>
            </a:srgbClr>
          </a:solidFill>
          <a:ln w="1397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4"/>
          <p:cNvSpPr/>
          <p:nvPr/>
        </p:nvSpPr>
        <p:spPr>
          <a:xfrm>
            <a:off x="6986160" y="221292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400" spc="99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PO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65"/>
          <p:cNvSpPr/>
          <p:nvPr/>
        </p:nvSpPr>
        <p:spPr>
          <a:xfrm>
            <a:off x="6986160" y="2706480"/>
            <a:ext cx="429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Execution Contract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66"/>
          <p:cNvSpPr/>
          <p:nvPr/>
        </p:nvSpPr>
        <p:spPr>
          <a:xfrm>
            <a:off x="7022520" y="3246120"/>
            <a:ext cx="4214880" cy="520920"/>
          </a:xfrm>
          <a:prstGeom prst="roundRect">
            <a:avLst>
              <a:gd name="adj" fmla="val 19298"/>
            </a:avLst>
          </a:prstGeom>
          <a:solidFill>
            <a:srgbClr val="0b1930">
              <a:alpha val="96000"/>
            </a:srgbClr>
          </a:solidFill>
          <a:ln w="889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67"/>
          <p:cNvSpPr/>
          <p:nvPr/>
        </p:nvSpPr>
        <p:spPr>
          <a:xfrm>
            <a:off x="7178040" y="3319200"/>
            <a:ext cx="4752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01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68"/>
          <p:cNvSpPr/>
          <p:nvPr/>
        </p:nvSpPr>
        <p:spPr>
          <a:xfrm>
            <a:off x="7745040" y="3319200"/>
            <a:ext cx="1362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CÍL</a:t>
            </a:r>
            <a:endParaRPr b="0" lang="en-US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9"/>
          <p:cNvSpPr/>
          <p:nvPr/>
        </p:nvSpPr>
        <p:spPr>
          <a:xfrm>
            <a:off x="8988480" y="331920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8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Co přesně splnit</a:t>
            </a:r>
            <a:endParaRPr b="0" lang="en-US" sz="13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70"/>
          <p:cNvSpPr/>
          <p:nvPr/>
        </p:nvSpPr>
        <p:spPr>
          <a:xfrm>
            <a:off x="7022520" y="3867840"/>
            <a:ext cx="4214880" cy="520920"/>
          </a:xfrm>
          <a:prstGeom prst="roundRect">
            <a:avLst>
              <a:gd name="adj" fmla="val 19298"/>
            </a:avLst>
          </a:prstGeom>
          <a:solidFill>
            <a:srgbClr val="0b1930">
              <a:alpha val="96000"/>
            </a:srgbClr>
          </a:solidFill>
          <a:ln w="889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71"/>
          <p:cNvSpPr/>
          <p:nvPr/>
        </p:nvSpPr>
        <p:spPr>
          <a:xfrm>
            <a:off x="7178040" y="3940920"/>
            <a:ext cx="4752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02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72"/>
          <p:cNvSpPr/>
          <p:nvPr/>
        </p:nvSpPr>
        <p:spPr>
          <a:xfrm>
            <a:off x="7745040" y="3940920"/>
            <a:ext cx="1362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HRANICE</a:t>
            </a:r>
            <a:endParaRPr b="0" lang="en-US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73"/>
          <p:cNvSpPr/>
          <p:nvPr/>
        </p:nvSpPr>
        <p:spPr>
          <a:xfrm>
            <a:off x="8988480" y="394092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8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Co je povoleno</a:t>
            </a:r>
            <a:endParaRPr b="0" lang="en-US" sz="13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74"/>
          <p:cNvSpPr/>
          <p:nvPr/>
        </p:nvSpPr>
        <p:spPr>
          <a:xfrm>
            <a:off x="7022520" y="4489560"/>
            <a:ext cx="4214880" cy="520920"/>
          </a:xfrm>
          <a:prstGeom prst="roundRect">
            <a:avLst>
              <a:gd name="adj" fmla="val 19298"/>
            </a:avLst>
          </a:prstGeom>
          <a:solidFill>
            <a:srgbClr val="0b1930">
              <a:alpha val="96000"/>
            </a:srgbClr>
          </a:solidFill>
          <a:ln w="889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75"/>
          <p:cNvSpPr/>
          <p:nvPr/>
        </p:nvSpPr>
        <p:spPr>
          <a:xfrm>
            <a:off x="7178040" y="4563000"/>
            <a:ext cx="4752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03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6"/>
          <p:cNvSpPr/>
          <p:nvPr/>
        </p:nvSpPr>
        <p:spPr>
          <a:xfrm>
            <a:off x="7745040" y="4563000"/>
            <a:ext cx="1362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DŮKAZ</a:t>
            </a:r>
            <a:endParaRPr b="0" lang="en-US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77"/>
          <p:cNvSpPr/>
          <p:nvPr/>
        </p:nvSpPr>
        <p:spPr>
          <a:xfrm>
            <a:off x="8988480" y="456300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8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Jak ověřit výsledek</a:t>
            </a:r>
            <a:endParaRPr b="0" lang="en-US" sz="13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78"/>
          <p:cNvSpPr/>
          <p:nvPr/>
        </p:nvSpPr>
        <p:spPr>
          <a:xfrm>
            <a:off x="10854000" y="5129640"/>
            <a:ext cx="219240" cy="219240"/>
          </a:xfrm>
          <a:prstGeom prst="ellipse">
            <a:avLst/>
          </a:prstGeom>
          <a:noFill/>
          <a:ln w="18415">
            <a:solidFill>
              <a:srgbClr val="6ae7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79"/>
          <p:cNvSpPr/>
          <p:nvPr/>
        </p:nvSpPr>
        <p:spPr>
          <a:xfrm>
            <a:off x="10912320" y="5244840"/>
            <a:ext cx="45720" cy="44640"/>
          </a:xfrm>
          <a:prstGeom prst="line">
            <a:avLst/>
          </a:prstGeom>
          <a:ln w="22860">
            <a:solidFill>
              <a:srgbClr val="6ae7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60" bIns="-36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80"/>
          <p:cNvSpPr/>
          <p:nvPr/>
        </p:nvSpPr>
        <p:spPr>
          <a:xfrm flipV="1">
            <a:off x="10958040" y="5182560"/>
            <a:ext cx="74880" cy="106920"/>
          </a:xfrm>
          <a:prstGeom prst="line">
            <a:avLst/>
          </a:prstGeom>
          <a:ln w="22860">
            <a:solidFill>
              <a:srgbClr val="6ae7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81"/>
          <p:cNvSpPr/>
          <p:nvPr/>
        </p:nvSpPr>
        <p:spPr>
          <a:xfrm>
            <a:off x="731520" y="595260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85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Nejistotu převádíme na ověřitelné podmínky.</a:t>
            </a:r>
            <a:endParaRPr b="0" lang="en-US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0"/>
          <p:cNvSpPr/>
          <p:nvPr/>
        </p:nvSpPr>
        <p:spPr>
          <a:xfrm>
            <a:off x="5029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"/>
          <p:cNvSpPr/>
          <p:nvPr/>
        </p:nvSpPr>
        <p:spPr>
          <a:xfrm>
            <a:off x="1042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2"/>
          <p:cNvSpPr/>
          <p:nvPr/>
        </p:nvSpPr>
        <p:spPr>
          <a:xfrm>
            <a:off x="1581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"/>
          <p:cNvSpPr/>
          <p:nvPr/>
        </p:nvSpPr>
        <p:spPr>
          <a:xfrm>
            <a:off x="21211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4"/>
          <p:cNvSpPr/>
          <p:nvPr/>
        </p:nvSpPr>
        <p:spPr>
          <a:xfrm>
            <a:off x="26607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5"/>
          <p:cNvSpPr/>
          <p:nvPr/>
        </p:nvSpPr>
        <p:spPr>
          <a:xfrm>
            <a:off x="32004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6"/>
          <p:cNvSpPr/>
          <p:nvPr/>
        </p:nvSpPr>
        <p:spPr>
          <a:xfrm>
            <a:off x="37396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7"/>
          <p:cNvSpPr/>
          <p:nvPr/>
        </p:nvSpPr>
        <p:spPr>
          <a:xfrm>
            <a:off x="42793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8"/>
          <p:cNvSpPr/>
          <p:nvPr/>
        </p:nvSpPr>
        <p:spPr>
          <a:xfrm>
            <a:off x="48186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9"/>
          <p:cNvSpPr/>
          <p:nvPr/>
        </p:nvSpPr>
        <p:spPr>
          <a:xfrm>
            <a:off x="53582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0"/>
          <p:cNvSpPr/>
          <p:nvPr/>
        </p:nvSpPr>
        <p:spPr>
          <a:xfrm>
            <a:off x="58978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1"/>
          <p:cNvSpPr/>
          <p:nvPr/>
        </p:nvSpPr>
        <p:spPr>
          <a:xfrm>
            <a:off x="64371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2"/>
          <p:cNvSpPr/>
          <p:nvPr/>
        </p:nvSpPr>
        <p:spPr>
          <a:xfrm>
            <a:off x="69768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3"/>
          <p:cNvSpPr/>
          <p:nvPr/>
        </p:nvSpPr>
        <p:spPr>
          <a:xfrm>
            <a:off x="75160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4"/>
          <p:cNvSpPr/>
          <p:nvPr/>
        </p:nvSpPr>
        <p:spPr>
          <a:xfrm>
            <a:off x="80557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5"/>
          <p:cNvSpPr/>
          <p:nvPr/>
        </p:nvSpPr>
        <p:spPr>
          <a:xfrm>
            <a:off x="85953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6"/>
          <p:cNvSpPr/>
          <p:nvPr/>
        </p:nvSpPr>
        <p:spPr>
          <a:xfrm>
            <a:off x="91346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7"/>
          <p:cNvSpPr/>
          <p:nvPr/>
        </p:nvSpPr>
        <p:spPr>
          <a:xfrm>
            <a:off x="96742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8"/>
          <p:cNvSpPr/>
          <p:nvPr/>
        </p:nvSpPr>
        <p:spPr>
          <a:xfrm>
            <a:off x="102135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9"/>
          <p:cNvSpPr/>
          <p:nvPr/>
        </p:nvSpPr>
        <p:spPr>
          <a:xfrm>
            <a:off x="10753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0"/>
          <p:cNvSpPr/>
          <p:nvPr/>
        </p:nvSpPr>
        <p:spPr>
          <a:xfrm>
            <a:off x="11292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1"/>
          <p:cNvSpPr/>
          <p:nvPr/>
        </p:nvSpPr>
        <p:spPr>
          <a:xfrm>
            <a:off x="502920" y="7772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2"/>
          <p:cNvSpPr/>
          <p:nvPr/>
        </p:nvSpPr>
        <p:spPr>
          <a:xfrm>
            <a:off x="502920" y="13165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3"/>
          <p:cNvSpPr/>
          <p:nvPr/>
        </p:nvSpPr>
        <p:spPr>
          <a:xfrm>
            <a:off x="502920" y="18561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4"/>
          <p:cNvSpPr/>
          <p:nvPr/>
        </p:nvSpPr>
        <p:spPr>
          <a:xfrm>
            <a:off x="502920" y="23954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5"/>
          <p:cNvSpPr/>
          <p:nvPr/>
        </p:nvSpPr>
        <p:spPr>
          <a:xfrm>
            <a:off x="502920" y="293508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6"/>
          <p:cNvSpPr/>
          <p:nvPr/>
        </p:nvSpPr>
        <p:spPr>
          <a:xfrm>
            <a:off x="502920" y="34747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7"/>
          <p:cNvSpPr/>
          <p:nvPr/>
        </p:nvSpPr>
        <p:spPr>
          <a:xfrm>
            <a:off x="502920" y="40140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8"/>
          <p:cNvSpPr/>
          <p:nvPr/>
        </p:nvSpPr>
        <p:spPr>
          <a:xfrm>
            <a:off x="502920" y="45536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9"/>
          <p:cNvSpPr/>
          <p:nvPr/>
        </p:nvSpPr>
        <p:spPr>
          <a:xfrm>
            <a:off x="502920" y="50929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30"/>
          <p:cNvSpPr/>
          <p:nvPr/>
        </p:nvSpPr>
        <p:spPr>
          <a:xfrm>
            <a:off x="502920" y="56325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31"/>
          <p:cNvSpPr/>
          <p:nvPr/>
        </p:nvSpPr>
        <p:spPr>
          <a:xfrm>
            <a:off x="502920" y="61722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3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33"/>
          <p:cNvSpPr/>
          <p:nvPr/>
        </p:nvSpPr>
        <p:spPr>
          <a:xfrm>
            <a:off x="548640" y="246960"/>
            <a:ext cx="319680" cy="31968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4"/>
          <p:cNvSpPr/>
          <p:nvPr/>
        </p:nvSpPr>
        <p:spPr>
          <a:xfrm>
            <a:off x="548640" y="246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71223"/>
                </a:solidFill>
                <a:effectLst/>
                <a:uFillTx/>
                <a:latin typeface="Inter Display"/>
                <a:ea typeface="Inter Display"/>
              </a:rPr>
              <a:t>F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5"/>
          <p:cNvSpPr/>
          <p:nvPr/>
        </p:nvSpPr>
        <p:spPr>
          <a:xfrm>
            <a:off x="987480" y="2469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FRANKENSTEIN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6"/>
          <p:cNvSpPr/>
          <p:nvPr/>
        </p:nvSpPr>
        <p:spPr>
          <a:xfrm>
            <a:off x="8321040" y="265320"/>
            <a:ext cx="3245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99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02  /  PROCES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7"/>
          <p:cNvSpPr/>
          <p:nvPr/>
        </p:nvSpPr>
        <p:spPr>
          <a:xfrm>
            <a:off x="640080" y="6656760"/>
            <a:ext cx="10908720" cy="360"/>
          </a:xfrm>
          <a:prstGeom prst="line">
            <a:avLst/>
          </a:prstGeom>
          <a:ln w="10160">
            <a:solidFill>
              <a:srgbClr val="1c35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8"/>
          <p:cNvSpPr/>
          <p:nvPr/>
        </p:nvSpPr>
        <p:spPr>
          <a:xfrm>
            <a:off x="64008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39"/>
          <p:cNvSpPr/>
          <p:nvPr/>
        </p:nvSpPr>
        <p:spPr>
          <a:xfrm>
            <a:off x="212256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0"/>
          <p:cNvSpPr/>
          <p:nvPr/>
        </p:nvSpPr>
        <p:spPr>
          <a:xfrm>
            <a:off x="360540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41"/>
          <p:cNvSpPr/>
          <p:nvPr/>
        </p:nvSpPr>
        <p:spPr>
          <a:xfrm>
            <a:off x="508788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42"/>
          <p:cNvSpPr/>
          <p:nvPr/>
        </p:nvSpPr>
        <p:spPr>
          <a:xfrm>
            <a:off x="657072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43"/>
          <p:cNvSpPr/>
          <p:nvPr/>
        </p:nvSpPr>
        <p:spPr>
          <a:xfrm>
            <a:off x="805320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44"/>
          <p:cNvSpPr/>
          <p:nvPr/>
        </p:nvSpPr>
        <p:spPr>
          <a:xfrm>
            <a:off x="953604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45"/>
          <p:cNvSpPr/>
          <p:nvPr/>
        </p:nvSpPr>
        <p:spPr>
          <a:xfrm>
            <a:off x="10607040" y="648324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939" spc="150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03  /  07</a:t>
            </a:r>
            <a:endParaRPr b="0" lang="en-US" sz="9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46"/>
          <p:cNvSpPr/>
          <p:nvPr/>
        </p:nvSpPr>
        <p:spPr>
          <a:xfrm>
            <a:off x="640080" y="786240"/>
            <a:ext cx="2495880" cy="319680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47"/>
          <p:cNvSpPr/>
          <p:nvPr/>
        </p:nvSpPr>
        <p:spPr>
          <a:xfrm>
            <a:off x="758880" y="786240"/>
            <a:ext cx="225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99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PRACOVNÍ CYKLUS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8"/>
          <p:cNvSpPr/>
          <p:nvPr/>
        </p:nvSpPr>
        <p:spPr>
          <a:xfrm>
            <a:off x="640080" y="1197720"/>
            <a:ext cx="1099080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400" spc="-51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Osm kroků. Jeden zamčený cíl.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49"/>
          <p:cNvSpPr/>
          <p:nvPr/>
        </p:nvSpPr>
        <p:spPr>
          <a:xfrm>
            <a:off x="685800" y="19749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50" spc="13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PŘÍPRAVA A VYJASNĚNÍ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50"/>
          <p:cNvSpPr/>
          <p:nvPr/>
        </p:nvSpPr>
        <p:spPr>
          <a:xfrm>
            <a:off x="685800" y="42429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50" spc="13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PROVEDENÍ A KONTROLA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51"/>
          <p:cNvSpPr/>
          <p:nvPr/>
        </p:nvSpPr>
        <p:spPr>
          <a:xfrm>
            <a:off x="3337560" y="2971800"/>
            <a:ext cx="127800" cy="360"/>
          </a:xfrm>
          <a:prstGeom prst="line">
            <a:avLst/>
          </a:prstGeom>
          <a:ln w="25400">
            <a:solidFill>
              <a:srgbClr val="428b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52"/>
          <p:cNvSpPr/>
          <p:nvPr/>
        </p:nvSpPr>
        <p:spPr>
          <a:xfrm>
            <a:off x="6199560" y="2971800"/>
            <a:ext cx="127800" cy="360"/>
          </a:xfrm>
          <a:prstGeom prst="line">
            <a:avLst/>
          </a:prstGeom>
          <a:ln w="25400">
            <a:solidFill>
              <a:srgbClr val="428b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53"/>
          <p:cNvSpPr/>
          <p:nvPr/>
        </p:nvSpPr>
        <p:spPr>
          <a:xfrm>
            <a:off x="9061560" y="2971800"/>
            <a:ext cx="128160" cy="360"/>
          </a:xfrm>
          <a:prstGeom prst="line">
            <a:avLst/>
          </a:prstGeom>
          <a:ln w="25400">
            <a:solidFill>
              <a:srgbClr val="428b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54"/>
          <p:cNvSpPr/>
          <p:nvPr/>
        </p:nvSpPr>
        <p:spPr>
          <a:xfrm>
            <a:off x="11877840" y="3035520"/>
            <a:ext cx="55080" cy="360"/>
          </a:xfrm>
          <a:prstGeom prst="line">
            <a:avLst/>
          </a:prstGeom>
          <a:ln w="2032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55"/>
          <p:cNvSpPr/>
          <p:nvPr/>
        </p:nvSpPr>
        <p:spPr>
          <a:xfrm>
            <a:off x="11932920" y="3035520"/>
            <a:ext cx="360" cy="2222280"/>
          </a:xfrm>
          <a:prstGeom prst="line">
            <a:avLst/>
          </a:prstGeom>
          <a:ln w="2032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56"/>
          <p:cNvSpPr/>
          <p:nvPr/>
        </p:nvSpPr>
        <p:spPr>
          <a:xfrm flipH="1">
            <a:off x="11877840" y="5257800"/>
            <a:ext cx="55080" cy="360"/>
          </a:xfrm>
          <a:prstGeom prst="line">
            <a:avLst/>
          </a:prstGeom>
          <a:ln w="22860">
            <a:solidFill>
              <a:srgbClr val="428b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57"/>
          <p:cNvSpPr/>
          <p:nvPr/>
        </p:nvSpPr>
        <p:spPr>
          <a:xfrm flipH="1">
            <a:off x="9006840" y="5202720"/>
            <a:ext cx="173520" cy="360"/>
          </a:xfrm>
          <a:prstGeom prst="line">
            <a:avLst/>
          </a:prstGeom>
          <a:ln w="25400">
            <a:solidFill>
              <a:srgbClr val="428b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58"/>
          <p:cNvSpPr/>
          <p:nvPr/>
        </p:nvSpPr>
        <p:spPr>
          <a:xfrm flipH="1">
            <a:off x="6144480" y="5202720"/>
            <a:ext cx="173880" cy="360"/>
          </a:xfrm>
          <a:prstGeom prst="line">
            <a:avLst/>
          </a:prstGeom>
          <a:ln w="25400">
            <a:solidFill>
              <a:srgbClr val="428b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59"/>
          <p:cNvSpPr/>
          <p:nvPr/>
        </p:nvSpPr>
        <p:spPr>
          <a:xfrm flipH="1">
            <a:off x="3282480" y="5202720"/>
            <a:ext cx="173880" cy="360"/>
          </a:xfrm>
          <a:prstGeom prst="line">
            <a:avLst/>
          </a:prstGeom>
          <a:ln w="25400">
            <a:solidFill>
              <a:srgbClr val="428b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60"/>
          <p:cNvSpPr/>
          <p:nvPr/>
        </p:nvSpPr>
        <p:spPr>
          <a:xfrm>
            <a:off x="658440" y="2304360"/>
            <a:ext cx="2313000" cy="1252440"/>
          </a:xfrm>
          <a:prstGeom prst="roundRect">
            <a:avLst>
              <a:gd name="adj" fmla="val 11679"/>
            </a:avLst>
          </a:prstGeom>
          <a:solidFill>
            <a:srgbClr val="11243b"/>
          </a:solidFill>
          <a:ln w="1143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61"/>
          <p:cNvSpPr/>
          <p:nvPr/>
        </p:nvSpPr>
        <p:spPr>
          <a:xfrm>
            <a:off x="813960" y="2450520"/>
            <a:ext cx="456840" cy="356400"/>
          </a:xfrm>
          <a:prstGeom prst="roundRect">
            <a:avLst>
              <a:gd name="adj" fmla="val 20513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62"/>
          <p:cNvSpPr/>
          <p:nvPr/>
        </p:nvSpPr>
        <p:spPr>
          <a:xfrm>
            <a:off x="813960" y="2459880"/>
            <a:ext cx="456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7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01</a:t>
            </a:r>
            <a:endParaRPr b="0" lang="en-US" sz="14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63"/>
          <p:cNvSpPr/>
          <p:nvPr/>
        </p:nvSpPr>
        <p:spPr>
          <a:xfrm>
            <a:off x="822960" y="2853000"/>
            <a:ext cx="203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ZADÁNÍ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64"/>
          <p:cNvSpPr/>
          <p:nvPr/>
        </p:nvSpPr>
        <p:spPr>
          <a:xfrm>
            <a:off x="822960" y="3282840"/>
            <a:ext cx="2002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originál beze změny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65"/>
          <p:cNvSpPr/>
          <p:nvPr/>
        </p:nvSpPr>
        <p:spPr>
          <a:xfrm>
            <a:off x="3520440" y="2304360"/>
            <a:ext cx="2313000" cy="1252440"/>
          </a:xfrm>
          <a:prstGeom prst="roundRect">
            <a:avLst>
              <a:gd name="adj" fmla="val 11679"/>
            </a:avLst>
          </a:prstGeom>
          <a:solidFill>
            <a:srgbClr val="1e2635"/>
          </a:solidFill>
          <a:ln w="17145">
            <a:solidFill>
              <a:srgbClr val="f5b9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66"/>
          <p:cNvSpPr/>
          <p:nvPr/>
        </p:nvSpPr>
        <p:spPr>
          <a:xfrm>
            <a:off x="3675960" y="2450520"/>
            <a:ext cx="456840" cy="356400"/>
          </a:xfrm>
          <a:prstGeom prst="roundRect">
            <a:avLst>
              <a:gd name="adj" fmla="val 20513"/>
            </a:avLst>
          </a:prstGeom>
          <a:solidFill>
            <a:srgbClr val="70451a"/>
          </a:solidFill>
          <a:ln w="12700">
            <a:solidFill>
              <a:srgbClr val="70451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67"/>
          <p:cNvSpPr/>
          <p:nvPr/>
        </p:nvSpPr>
        <p:spPr>
          <a:xfrm>
            <a:off x="3675960" y="2459880"/>
            <a:ext cx="456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70" strike="noStrike" u="none">
                <a:solidFill>
                  <a:srgbClr val="ffda86"/>
                </a:solidFill>
                <a:effectLst/>
                <a:uFillTx/>
                <a:latin typeface="Inter"/>
                <a:ea typeface="Inter"/>
              </a:rPr>
              <a:t>02</a:t>
            </a:r>
            <a:endParaRPr b="0" lang="en-US" sz="14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68"/>
          <p:cNvSpPr/>
          <p:nvPr/>
        </p:nvSpPr>
        <p:spPr>
          <a:xfrm>
            <a:off x="5527440" y="2500920"/>
            <a:ext cx="136800" cy="136800"/>
          </a:xfrm>
          <a:prstGeom prst="ellipse">
            <a:avLst/>
          </a:prstGeom>
          <a:solidFill>
            <a:srgbClr val="f5b94e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69"/>
          <p:cNvSpPr/>
          <p:nvPr/>
        </p:nvSpPr>
        <p:spPr>
          <a:xfrm>
            <a:off x="3684960" y="2853000"/>
            <a:ext cx="203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10 HLEDISEK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70"/>
          <p:cNvSpPr/>
          <p:nvPr/>
        </p:nvSpPr>
        <p:spPr>
          <a:xfrm>
            <a:off x="3684960" y="3282840"/>
            <a:ext cx="2002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analýza promptu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71"/>
          <p:cNvSpPr/>
          <p:nvPr/>
        </p:nvSpPr>
        <p:spPr>
          <a:xfrm>
            <a:off x="6382440" y="2304360"/>
            <a:ext cx="2313000" cy="1252440"/>
          </a:xfrm>
          <a:prstGeom prst="roundRect">
            <a:avLst>
              <a:gd name="adj" fmla="val 11679"/>
            </a:avLst>
          </a:prstGeom>
          <a:solidFill>
            <a:srgbClr val="1e2635"/>
          </a:solidFill>
          <a:ln w="17145">
            <a:solidFill>
              <a:srgbClr val="f5b9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72"/>
          <p:cNvSpPr/>
          <p:nvPr/>
        </p:nvSpPr>
        <p:spPr>
          <a:xfrm>
            <a:off x="6537960" y="2450520"/>
            <a:ext cx="456840" cy="356400"/>
          </a:xfrm>
          <a:prstGeom prst="roundRect">
            <a:avLst>
              <a:gd name="adj" fmla="val 20513"/>
            </a:avLst>
          </a:prstGeom>
          <a:solidFill>
            <a:srgbClr val="70451a"/>
          </a:solidFill>
          <a:ln w="12700">
            <a:solidFill>
              <a:srgbClr val="70451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73"/>
          <p:cNvSpPr/>
          <p:nvPr/>
        </p:nvSpPr>
        <p:spPr>
          <a:xfrm>
            <a:off x="6537960" y="2459880"/>
            <a:ext cx="456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70" strike="noStrike" u="none">
                <a:solidFill>
                  <a:srgbClr val="ffda86"/>
                </a:solidFill>
                <a:effectLst/>
                <a:uFillTx/>
                <a:latin typeface="Inter"/>
                <a:ea typeface="Inter"/>
              </a:rPr>
              <a:t>03</a:t>
            </a:r>
            <a:endParaRPr b="0" lang="en-US" sz="14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74"/>
          <p:cNvSpPr/>
          <p:nvPr/>
        </p:nvSpPr>
        <p:spPr>
          <a:xfrm>
            <a:off x="8389800" y="2500920"/>
            <a:ext cx="136800" cy="136800"/>
          </a:xfrm>
          <a:prstGeom prst="ellipse">
            <a:avLst/>
          </a:prstGeom>
          <a:solidFill>
            <a:srgbClr val="f5b94e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75"/>
          <p:cNvSpPr/>
          <p:nvPr/>
        </p:nvSpPr>
        <p:spPr>
          <a:xfrm>
            <a:off x="6546960" y="2853000"/>
            <a:ext cx="203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AUDIT CÍLE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76"/>
          <p:cNvSpPr/>
          <p:nvPr/>
        </p:nvSpPr>
        <p:spPr>
          <a:xfrm>
            <a:off x="6546960" y="3282840"/>
            <a:ext cx="2002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nezávislý pohled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77"/>
          <p:cNvSpPr/>
          <p:nvPr/>
        </p:nvSpPr>
        <p:spPr>
          <a:xfrm>
            <a:off x="9244440" y="2304360"/>
            <a:ext cx="2313000" cy="1252440"/>
          </a:xfrm>
          <a:prstGeom prst="roundRect">
            <a:avLst>
              <a:gd name="adj" fmla="val 11679"/>
            </a:avLst>
          </a:prstGeom>
          <a:solidFill>
            <a:srgbClr val="1e2635"/>
          </a:solidFill>
          <a:ln w="17145">
            <a:solidFill>
              <a:srgbClr val="f5b9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78"/>
          <p:cNvSpPr/>
          <p:nvPr/>
        </p:nvSpPr>
        <p:spPr>
          <a:xfrm>
            <a:off x="9399960" y="2450520"/>
            <a:ext cx="456840" cy="356400"/>
          </a:xfrm>
          <a:prstGeom prst="roundRect">
            <a:avLst>
              <a:gd name="adj" fmla="val 20513"/>
            </a:avLst>
          </a:prstGeom>
          <a:solidFill>
            <a:srgbClr val="70451a"/>
          </a:solidFill>
          <a:ln w="12700">
            <a:solidFill>
              <a:srgbClr val="70451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79"/>
          <p:cNvSpPr/>
          <p:nvPr/>
        </p:nvSpPr>
        <p:spPr>
          <a:xfrm>
            <a:off x="9399960" y="2459880"/>
            <a:ext cx="456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70" strike="noStrike" u="none">
                <a:solidFill>
                  <a:srgbClr val="ffda86"/>
                </a:solidFill>
                <a:effectLst/>
                <a:uFillTx/>
                <a:latin typeface="Inter"/>
                <a:ea typeface="Inter"/>
              </a:rPr>
              <a:t>04</a:t>
            </a:r>
            <a:endParaRPr b="0" lang="en-US" sz="14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80"/>
          <p:cNvSpPr/>
          <p:nvPr/>
        </p:nvSpPr>
        <p:spPr>
          <a:xfrm>
            <a:off x="11251800" y="2500920"/>
            <a:ext cx="136800" cy="136800"/>
          </a:xfrm>
          <a:prstGeom prst="ellipse">
            <a:avLst/>
          </a:prstGeom>
          <a:solidFill>
            <a:srgbClr val="f5b94e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81"/>
          <p:cNvSpPr/>
          <p:nvPr/>
        </p:nvSpPr>
        <p:spPr>
          <a:xfrm>
            <a:off x="9409320" y="2853000"/>
            <a:ext cx="203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BRÁNA A/B/C/D</a:t>
            </a:r>
            <a:endParaRPr b="0" lang="en-US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82"/>
          <p:cNvSpPr/>
          <p:nvPr/>
        </p:nvSpPr>
        <p:spPr>
          <a:xfrm>
            <a:off x="9409320" y="3282840"/>
            <a:ext cx="2002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pokračovat / STOP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83"/>
          <p:cNvSpPr/>
          <p:nvPr/>
        </p:nvSpPr>
        <p:spPr>
          <a:xfrm>
            <a:off x="658440" y="4563000"/>
            <a:ext cx="2313000" cy="1252440"/>
          </a:xfrm>
          <a:prstGeom prst="roundRect">
            <a:avLst>
              <a:gd name="adj" fmla="val 11679"/>
            </a:avLst>
          </a:prstGeom>
          <a:solidFill>
            <a:srgbClr val="1e2635"/>
          </a:solidFill>
          <a:ln w="17145">
            <a:solidFill>
              <a:srgbClr val="f5b9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84"/>
          <p:cNvSpPr/>
          <p:nvPr/>
        </p:nvSpPr>
        <p:spPr>
          <a:xfrm>
            <a:off x="813960" y="4709160"/>
            <a:ext cx="456840" cy="356400"/>
          </a:xfrm>
          <a:prstGeom prst="roundRect">
            <a:avLst>
              <a:gd name="adj" fmla="val 20513"/>
            </a:avLst>
          </a:prstGeom>
          <a:solidFill>
            <a:srgbClr val="70451a"/>
          </a:solidFill>
          <a:ln w="12700">
            <a:solidFill>
              <a:srgbClr val="70451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85"/>
          <p:cNvSpPr/>
          <p:nvPr/>
        </p:nvSpPr>
        <p:spPr>
          <a:xfrm>
            <a:off x="813960" y="4718160"/>
            <a:ext cx="456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70" strike="noStrike" u="none">
                <a:solidFill>
                  <a:srgbClr val="ffda86"/>
                </a:solidFill>
                <a:effectLst/>
                <a:uFillTx/>
                <a:latin typeface="Inter"/>
                <a:ea typeface="Inter"/>
              </a:rPr>
              <a:t>08</a:t>
            </a:r>
            <a:endParaRPr b="0" lang="en-US" sz="14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86"/>
          <p:cNvSpPr/>
          <p:nvPr/>
        </p:nvSpPr>
        <p:spPr>
          <a:xfrm>
            <a:off x="2665440" y="4759560"/>
            <a:ext cx="136800" cy="136800"/>
          </a:xfrm>
          <a:prstGeom prst="ellipse">
            <a:avLst/>
          </a:prstGeom>
          <a:solidFill>
            <a:srgbClr val="f5b94e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87"/>
          <p:cNvSpPr/>
          <p:nvPr/>
        </p:nvSpPr>
        <p:spPr>
          <a:xfrm>
            <a:off x="822960" y="5111640"/>
            <a:ext cx="203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VERIFIKACE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88"/>
          <p:cNvSpPr/>
          <p:nvPr/>
        </p:nvSpPr>
        <p:spPr>
          <a:xfrm>
            <a:off x="822960" y="5541120"/>
            <a:ext cx="2002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důkazy a verdikt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89"/>
          <p:cNvSpPr/>
          <p:nvPr/>
        </p:nvSpPr>
        <p:spPr>
          <a:xfrm>
            <a:off x="3520440" y="4563000"/>
            <a:ext cx="2313000" cy="1252440"/>
          </a:xfrm>
          <a:prstGeom prst="roundRect">
            <a:avLst>
              <a:gd name="adj" fmla="val 11679"/>
            </a:avLst>
          </a:prstGeom>
          <a:solidFill>
            <a:srgbClr val="11243b"/>
          </a:solidFill>
          <a:ln w="1143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90"/>
          <p:cNvSpPr/>
          <p:nvPr/>
        </p:nvSpPr>
        <p:spPr>
          <a:xfrm>
            <a:off x="3675960" y="4709160"/>
            <a:ext cx="456840" cy="356400"/>
          </a:xfrm>
          <a:prstGeom prst="roundRect">
            <a:avLst>
              <a:gd name="adj" fmla="val 20513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91"/>
          <p:cNvSpPr/>
          <p:nvPr/>
        </p:nvSpPr>
        <p:spPr>
          <a:xfrm>
            <a:off x="3675960" y="4718160"/>
            <a:ext cx="456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7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07</a:t>
            </a:r>
            <a:endParaRPr b="0" lang="en-US" sz="14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92"/>
          <p:cNvSpPr/>
          <p:nvPr/>
        </p:nvSpPr>
        <p:spPr>
          <a:xfrm>
            <a:off x="3684960" y="5111640"/>
            <a:ext cx="203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AGENT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93"/>
          <p:cNvSpPr/>
          <p:nvPr/>
        </p:nvSpPr>
        <p:spPr>
          <a:xfrm>
            <a:off x="3684960" y="5541120"/>
            <a:ext cx="2002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Sonnet → lokální model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94"/>
          <p:cNvSpPr/>
          <p:nvPr/>
        </p:nvSpPr>
        <p:spPr>
          <a:xfrm>
            <a:off x="6382440" y="4563000"/>
            <a:ext cx="2313000" cy="1252440"/>
          </a:xfrm>
          <a:prstGeom prst="roundRect">
            <a:avLst>
              <a:gd name="adj" fmla="val 11679"/>
            </a:avLst>
          </a:prstGeom>
          <a:solidFill>
            <a:srgbClr val="11243b"/>
          </a:solidFill>
          <a:ln w="1143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95"/>
          <p:cNvSpPr/>
          <p:nvPr/>
        </p:nvSpPr>
        <p:spPr>
          <a:xfrm>
            <a:off x="6537960" y="4709160"/>
            <a:ext cx="456840" cy="356400"/>
          </a:xfrm>
          <a:prstGeom prst="roundRect">
            <a:avLst>
              <a:gd name="adj" fmla="val 20513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96"/>
          <p:cNvSpPr/>
          <p:nvPr/>
        </p:nvSpPr>
        <p:spPr>
          <a:xfrm>
            <a:off x="6537960" y="4718160"/>
            <a:ext cx="456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7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06</a:t>
            </a:r>
            <a:endParaRPr b="0" lang="en-US" sz="14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97"/>
          <p:cNvSpPr/>
          <p:nvPr/>
        </p:nvSpPr>
        <p:spPr>
          <a:xfrm>
            <a:off x="6546960" y="5111640"/>
            <a:ext cx="203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PROMPT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98"/>
          <p:cNvSpPr/>
          <p:nvPr/>
        </p:nvSpPr>
        <p:spPr>
          <a:xfrm>
            <a:off x="6546960" y="5541120"/>
            <a:ext cx="2002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sestaví algoritmus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99"/>
          <p:cNvSpPr/>
          <p:nvPr/>
        </p:nvSpPr>
        <p:spPr>
          <a:xfrm>
            <a:off x="9244440" y="4563000"/>
            <a:ext cx="2313000" cy="1252440"/>
          </a:xfrm>
          <a:prstGeom prst="roundRect">
            <a:avLst>
              <a:gd name="adj" fmla="val 11679"/>
            </a:avLst>
          </a:prstGeom>
          <a:solidFill>
            <a:srgbClr val="11243b"/>
          </a:solidFill>
          <a:ln w="1143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00"/>
          <p:cNvSpPr/>
          <p:nvPr/>
        </p:nvSpPr>
        <p:spPr>
          <a:xfrm>
            <a:off x="9399960" y="4709160"/>
            <a:ext cx="456840" cy="356400"/>
          </a:xfrm>
          <a:prstGeom prst="roundRect">
            <a:avLst>
              <a:gd name="adj" fmla="val 20513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01"/>
          <p:cNvSpPr/>
          <p:nvPr/>
        </p:nvSpPr>
        <p:spPr>
          <a:xfrm>
            <a:off x="9399960" y="4718160"/>
            <a:ext cx="456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7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05</a:t>
            </a:r>
            <a:endParaRPr b="0" lang="en-US" sz="14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02"/>
          <p:cNvSpPr/>
          <p:nvPr/>
        </p:nvSpPr>
        <p:spPr>
          <a:xfrm>
            <a:off x="9409320" y="5111640"/>
            <a:ext cx="203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5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GOAL CONTRACT</a:t>
            </a:r>
            <a:endParaRPr b="0" lang="en-US" sz="16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03"/>
          <p:cNvSpPr/>
          <p:nvPr/>
        </p:nvSpPr>
        <p:spPr>
          <a:xfrm>
            <a:off x="9409320" y="5541120"/>
            <a:ext cx="20023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neměnný cíl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104"/>
          <p:cNvSpPr/>
          <p:nvPr/>
        </p:nvSpPr>
        <p:spPr>
          <a:xfrm>
            <a:off x="667440" y="6053400"/>
            <a:ext cx="10881000" cy="383760"/>
          </a:xfrm>
          <a:prstGeom prst="roundRect">
            <a:avLst>
              <a:gd name="adj" fmla="val 26190"/>
            </a:avLst>
          </a:prstGeom>
          <a:solidFill>
            <a:srgbClr val="0b1930"/>
          </a:solidFill>
          <a:ln w="12700">
            <a:solidFill>
              <a:srgbClr val="0b19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05"/>
          <p:cNvSpPr/>
          <p:nvPr/>
        </p:nvSpPr>
        <p:spPr>
          <a:xfrm>
            <a:off x="864000" y="6176880"/>
            <a:ext cx="136800" cy="136800"/>
          </a:xfrm>
          <a:prstGeom prst="ellipse">
            <a:avLst/>
          </a:prstGeom>
          <a:solidFill>
            <a:srgbClr val="f5b94e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06"/>
          <p:cNvSpPr/>
          <p:nvPr/>
        </p:nvSpPr>
        <p:spPr>
          <a:xfrm>
            <a:off x="1088280" y="6080760"/>
            <a:ext cx="102409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61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Jantarová = hodnoticí brána. Při nejasnosti se FR zeptá místo hádání.</a:t>
            </a:r>
            <a:endParaRPr b="0" lang="en-US" sz="16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0"/>
          <p:cNvSpPr/>
          <p:nvPr/>
        </p:nvSpPr>
        <p:spPr>
          <a:xfrm>
            <a:off x="5029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"/>
          <p:cNvSpPr/>
          <p:nvPr/>
        </p:nvSpPr>
        <p:spPr>
          <a:xfrm>
            <a:off x="1042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2"/>
          <p:cNvSpPr/>
          <p:nvPr/>
        </p:nvSpPr>
        <p:spPr>
          <a:xfrm>
            <a:off x="1581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21211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4"/>
          <p:cNvSpPr/>
          <p:nvPr/>
        </p:nvSpPr>
        <p:spPr>
          <a:xfrm>
            <a:off x="26607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5"/>
          <p:cNvSpPr/>
          <p:nvPr/>
        </p:nvSpPr>
        <p:spPr>
          <a:xfrm>
            <a:off x="32004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"/>
          <p:cNvSpPr/>
          <p:nvPr/>
        </p:nvSpPr>
        <p:spPr>
          <a:xfrm>
            <a:off x="37396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7"/>
          <p:cNvSpPr/>
          <p:nvPr/>
        </p:nvSpPr>
        <p:spPr>
          <a:xfrm>
            <a:off x="42793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8"/>
          <p:cNvSpPr/>
          <p:nvPr/>
        </p:nvSpPr>
        <p:spPr>
          <a:xfrm>
            <a:off x="48186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9"/>
          <p:cNvSpPr/>
          <p:nvPr/>
        </p:nvSpPr>
        <p:spPr>
          <a:xfrm>
            <a:off x="53582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0"/>
          <p:cNvSpPr/>
          <p:nvPr/>
        </p:nvSpPr>
        <p:spPr>
          <a:xfrm>
            <a:off x="58978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1"/>
          <p:cNvSpPr/>
          <p:nvPr/>
        </p:nvSpPr>
        <p:spPr>
          <a:xfrm>
            <a:off x="64371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2"/>
          <p:cNvSpPr/>
          <p:nvPr/>
        </p:nvSpPr>
        <p:spPr>
          <a:xfrm>
            <a:off x="69768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3"/>
          <p:cNvSpPr/>
          <p:nvPr/>
        </p:nvSpPr>
        <p:spPr>
          <a:xfrm>
            <a:off x="75160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4"/>
          <p:cNvSpPr/>
          <p:nvPr/>
        </p:nvSpPr>
        <p:spPr>
          <a:xfrm>
            <a:off x="80557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5"/>
          <p:cNvSpPr/>
          <p:nvPr/>
        </p:nvSpPr>
        <p:spPr>
          <a:xfrm>
            <a:off x="85953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6"/>
          <p:cNvSpPr/>
          <p:nvPr/>
        </p:nvSpPr>
        <p:spPr>
          <a:xfrm>
            <a:off x="91346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7"/>
          <p:cNvSpPr/>
          <p:nvPr/>
        </p:nvSpPr>
        <p:spPr>
          <a:xfrm>
            <a:off x="96742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8"/>
          <p:cNvSpPr/>
          <p:nvPr/>
        </p:nvSpPr>
        <p:spPr>
          <a:xfrm>
            <a:off x="102135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9"/>
          <p:cNvSpPr/>
          <p:nvPr/>
        </p:nvSpPr>
        <p:spPr>
          <a:xfrm>
            <a:off x="10753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20"/>
          <p:cNvSpPr/>
          <p:nvPr/>
        </p:nvSpPr>
        <p:spPr>
          <a:xfrm>
            <a:off x="11292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1"/>
          <p:cNvSpPr/>
          <p:nvPr/>
        </p:nvSpPr>
        <p:spPr>
          <a:xfrm>
            <a:off x="502920" y="7772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2"/>
          <p:cNvSpPr/>
          <p:nvPr/>
        </p:nvSpPr>
        <p:spPr>
          <a:xfrm>
            <a:off x="502920" y="13165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3"/>
          <p:cNvSpPr/>
          <p:nvPr/>
        </p:nvSpPr>
        <p:spPr>
          <a:xfrm>
            <a:off x="502920" y="18561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4"/>
          <p:cNvSpPr/>
          <p:nvPr/>
        </p:nvSpPr>
        <p:spPr>
          <a:xfrm>
            <a:off x="502920" y="23954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5"/>
          <p:cNvSpPr/>
          <p:nvPr/>
        </p:nvSpPr>
        <p:spPr>
          <a:xfrm>
            <a:off x="502920" y="293508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6"/>
          <p:cNvSpPr/>
          <p:nvPr/>
        </p:nvSpPr>
        <p:spPr>
          <a:xfrm>
            <a:off x="502920" y="34747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7"/>
          <p:cNvSpPr/>
          <p:nvPr/>
        </p:nvSpPr>
        <p:spPr>
          <a:xfrm>
            <a:off x="502920" y="40140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28"/>
          <p:cNvSpPr/>
          <p:nvPr/>
        </p:nvSpPr>
        <p:spPr>
          <a:xfrm>
            <a:off x="502920" y="45536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9"/>
          <p:cNvSpPr/>
          <p:nvPr/>
        </p:nvSpPr>
        <p:spPr>
          <a:xfrm>
            <a:off x="502920" y="50929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30"/>
          <p:cNvSpPr/>
          <p:nvPr/>
        </p:nvSpPr>
        <p:spPr>
          <a:xfrm>
            <a:off x="502920" y="56325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31"/>
          <p:cNvSpPr/>
          <p:nvPr/>
        </p:nvSpPr>
        <p:spPr>
          <a:xfrm>
            <a:off x="502920" y="61722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3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33"/>
          <p:cNvSpPr/>
          <p:nvPr/>
        </p:nvSpPr>
        <p:spPr>
          <a:xfrm>
            <a:off x="548640" y="246960"/>
            <a:ext cx="319680" cy="31968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4"/>
          <p:cNvSpPr/>
          <p:nvPr/>
        </p:nvSpPr>
        <p:spPr>
          <a:xfrm>
            <a:off x="548640" y="246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71223"/>
                </a:solidFill>
                <a:effectLst/>
                <a:uFillTx/>
                <a:latin typeface="Inter Display"/>
                <a:ea typeface="Inter Display"/>
              </a:rPr>
              <a:t>F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5"/>
          <p:cNvSpPr/>
          <p:nvPr/>
        </p:nvSpPr>
        <p:spPr>
          <a:xfrm>
            <a:off x="987480" y="2469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FRANKENSTEIN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36"/>
          <p:cNvSpPr/>
          <p:nvPr/>
        </p:nvSpPr>
        <p:spPr>
          <a:xfrm>
            <a:off x="8321040" y="265320"/>
            <a:ext cx="3245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99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03  /  ZÁRUKY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37"/>
          <p:cNvSpPr/>
          <p:nvPr/>
        </p:nvSpPr>
        <p:spPr>
          <a:xfrm>
            <a:off x="640080" y="6656760"/>
            <a:ext cx="10908720" cy="360"/>
          </a:xfrm>
          <a:prstGeom prst="line">
            <a:avLst/>
          </a:prstGeom>
          <a:ln w="10160">
            <a:solidFill>
              <a:srgbClr val="1c35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8"/>
          <p:cNvSpPr/>
          <p:nvPr/>
        </p:nvSpPr>
        <p:spPr>
          <a:xfrm>
            <a:off x="64008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9"/>
          <p:cNvSpPr/>
          <p:nvPr/>
        </p:nvSpPr>
        <p:spPr>
          <a:xfrm>
            <a:off x="212256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40"/>
          <p:cNvSpPr/>
          <p:nvPr/>
        </p:nvSpPr>
        <p:spPr>
          <a:xfrm>
            <a:off x="360540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41"/>
          <p:cNvSpPr/>
          <p:nvPr/>
        </p:nvSpPr>
        <p:spPr>
          <a:xfrm>
            <a:off x="508788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42"/>
          <p:cNvSpPr/>
          <p:nvPr/>
        </p:nvSpPr>
        <p:spPr>
          <a:xfrm>
            <a:off x="657072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43"/>
          <p:cNvSpPr/>
          <p:nvPr/>
        </p:nvSpPr>
        <p:spPr>
          <a:xfrm>
            <a:off x="805320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44"/>
          <p:cNvSpPr/>
          <p:nvPr/>
        </p:nvSpPr>
        <p:spPr>
          <a:xfrm>
            <a:off x="953604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45"/>
          <p:cNvSpPr/>
          <p:nvPr/>
        </p:nvSpPr>
        <p:spPr>
          <a:xfrm>
            <a:off x="10607040" y="648324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939" spc="150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04  /  07</a:t>
            </a:r>
            <a:endParaRPr b="0" lang="en-US" sz="9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6"/>
          <p:cNvSpPr/>
          <p:nvPr/>
        </p:nvSpPr>
        <p:spPr>
          <a:xfrm>
            <a:off x="640080" y="786240"/>
            <a:ext cx="2495880" cy="319680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47"/>
          <p:cNvSpPr/>
          <p:nvPr/>
        </p:nvSpPr>
        <p:spPr>
          <a:xfrm>
            <a:off x="758880" y="786240"/>
            <a:ext cx="225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99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HODNOTICÍ BRÁNY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48"/>
          <p:cNvSpPr/>
          <p:nvPr/>
        </p:nvSpPr>
        <p:spPr>
          <a:xfrm>
            <a:off x="640080" y="1197720"/>
            <a:ext cx="1099080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400" spc="-51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Cíl. Oprávnění. Důkaz.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49"/>
          <p:cNvSpPr/>
          <p:nvPr/>
        </p:nvSpPr>
        <p:spPr>
          <a:xfrm>
            <a:off x="685800" y="2011680"/>
            <a:ext cx="3529080" cy="2861640"/>
          </a:xfrm>
          <a:prstGeom prst="roundRect">
            <a:avLst>
              <a:gd name="adj" fmla="val 6709"/>
            </a:avLst>
          </a:prstGeom>
          <a:solidFill>
            <a:srgbClr val="11243b">
              <a:alpha val="95000"/>
            </a:srgbClr>
          </a:solidFill>
          <a:ln w="10795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50"/>
          <p:cNvSpPr/>
          <p:nvPr/>
        </p:nvSpPr>
        <p:spPr>
          <a:xfrm>
            <a:off x="1929240" y="2350080"/>
            <a:ext cx="1042200" cy="1042200"/>
          </a:xfrm>
          <a:prstGeom prst="ellipse">
            <a:avLst/>
          </a:prstGeom>
          <a:solidFill>
            <a:srgbClr val="0b1930"/>
          </a:solidFill>
          <a:ln w="1905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51"/>
          <p:cNvSpPr/>
          <p:nvPr/>
        </p:nvSpPr>
        <p:spPr>
          <a:xfrm>
            <a:off x="2176200" y="2597040"/>
            <a:ext cx="548280" cy="548280"/>
          </a:xfrm>
          <a:prstGeom prst="ellipse">
            <a:avLst/>
          </a:prstGeom>
          <a:noFill/>
          <a:ln w="2159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52"/>
          <p:cNvSpPr/>
          <p:nvPr/>
        </p:nvSpPr>
        <p:spPr>
          <a:xfrm>
            <a:off x="2377440" y="2797920"/>
            <a:ext cx="145800" cy="14580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53"/>
          <p:cNvSpPr/>
          <p:nvPr/>
        </p:nvSpPr>
        <p:spPr>
          <a:xfrm>
            <a:off x="1746360" y="2871000"/>
            <a:ext cx="1408320" cy="360"/>
          </a:xfrm>
          <a:prstGeom prst="line">
            <a:avLst/>
          </a:prstGeom>
          <a:ln w="13335">
            <a:solidFill>
              <a:srgbClr val="67db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54"/>
          <p:cNvSpPr/>
          <p:nvPr/>
        </p:nvSpPr>
        <p:spPr>
          <a:xfrm>
            <a:off x="2450520" y="2166840"/>
            <a:ext cx="360" cy="1408320"/>
          </a:xfrm>
          <a:prstGeom prst="line">
            <a:avLst/>
          </a:prstGeom>
          <a:ln w="13335">
            <a:solidFill>
              <a:srgbClr val="67db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55"/>
          <p:cNvSpPr/>
          <p:nvPr/>
        </p:nvSpPr>
        <p:spPr>
          <a:xfrm>
            <a:off x="960120" y="3630240"/>
            <a:ext cx="2980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900" spc="91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CÍL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56"/>
          <p:cNvSpPr/>
          <p:nvPr/>
        </p:nvSpPr>
        <p:spPr>
          <a:xfrm>
            <a:off x="914400" y="3977640"/>
            <a:ext cx="3071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Neztratí se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po cestě.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57"/>
          <p:cNvSpPr/>
          <p:nvPr/>
        </p:nvSpPr>
        <p:spPr>
          <a:xfrm>
            <a:off x="4306680" y="2011680"/>
            <a:ext cx="3529080" cy="2861640"/>
          </a:xfrm>
          <a:prstGeom prst="roundRect">
            <a:avLst>
              <a:gd name="adj" fmla="val 6709"/>
            </a:avLst>
          </a:prstGeom>
          <a:solidFill>
            <a:srgbClr val="11243b">
              <a:alpha val="95000"/>
            </a:srgbClr>
          </a:solidFill>
          <a:ln w="10795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58"/>
          <p:cNvSpPr/>
          <p:nvPr/>
        </p:nvSpPr>
        <p:spPr>
          <a:xfrm>
            <a:off x="5550480" y="2350080"/>
            <a:ext cx="1042200" cy="1042200"/>
          </a:xfrm>
          <a:prstGeom prst="ellipse">
            <a:avLst/>
          </a:prstGeom>
          <a:solidFill>
            <a:srgbClr val="0b1930"/>
          </a:solidFill>
          <a:ln w="1905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59"/>
          <p:cNvSpPr/>
          <p:nvPr/>
        </p:nvSpPr>
        <p:spPr>
          <a:xfrm rot="10800000">
            <a:off x="5843520" y="2533320"/>
            <a:ext cx="456840" cy="411120"/>
          </a:xfrm>
          <a:prstGeom prst="arc">
            <a:avLst>
              <a:gd name="adj1" fmla="val 16200000"/>
              <a:gd name="adj2" fmla="val 0"/>
            </a:avLst>
          </a:prstGeom>
          <a:noFill/>
          <a:ln w="3302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60"/>
          <p:cNvSpPr/>
          <p:nvPr/>
        </p:nvSpPr>
        <p:spPr>
          <a:xfrm>
            <a:off x="5779080" y="2779920"/>
            <a:ext cx="585000" cy="447840"/>
          </a:xfrm>
          <a:prstGeom prst="roundRect">
            <a:avLst>
              <a:gd name="adj" fmla="val 18367"/>
            </a:avLst>
          </a:prstGeom>
          <a:solidFill>
            <a:srgbClr val="67dbff"/>
          </a:solidFill>
          <a:ln w="12700">
            <a:solidFill>
              <a:srgbClr val="67d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61"/>
          <p:cNvSpPr/>
          <p:nvPr/>
        </p:nvSpPr>
        <p:spPr>
          <a:xfrm>
            <a:off x="6033240" y="2933280"/>
            <a:ext cx="76320" cy="76320"/>
          </a:xfrm>
          <a:prstGeom prst="ellipse">
            <a:avLst/>
          </a:prstGeom>
          <a:solidFill>
            <a:srgbClr val="0b1930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62"/>
          <p:cNvSpPr/>
          <p:nvPr/>
        </p:nvSpPr>
        <p:spPr>
          <a:xfrm>
            <a:off x="4581000" y="3630240"/>
            <a:ext cx="2980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900" spc="91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OPRÁVNĚNÍ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63"/>
          <p:cNvSpPr/>
          <p:nvPr/>
        </p:nvSpPr>
        <p:spPr>
          <a:xfrm>
            <a:off x="4535280" y="3977640"/>
            <a:ext cx="3071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Agent dělá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jen to, co smí.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64"/>
          <p:cNvSpPr/>
          <p:nvPr/>
        </p:nvSpPr>
        <p:spPr>
          <a:xfrm>
            <a:off x="7927920" y="2011680"/>
            <a:ext cx="3529080" cy="2861640"/>
          </a:xfrm>
          <a:prstGeom prst="roundRect">
            <a:avLst>
              <a:gd name="adj" fmla="val 6709"/>
            </a:avLst>
          </a:prstGeom>
          <a:solidFill>
            <a:srgbClr val="11243b">
              <a:alpha val="95000"/>
            </a:srgbClr>
          </a:solidFill>
          <a:ln w="10795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65"/>
          <p:cNvSpPr/>
          <p:nvPr/>
        </p:nvSpPr>
        <p:spPr>
          <a:xfrm>
            <a:off x="9171360" y="2350080"/>
            <a:ext cx="1042200" cy="1042200"/>
          </a:xfrm>
          <a:prstGeom prst="ellipse">
            <a:avLst/>
          </a:prstGeom>
          <a:solidFill>
            <a:srgbClr val="0b1930"/>
          </a:solidFill>
          <a:ln w="1905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66"/>
          <p:cNvSpPr/>
          <p:nvPr/>
        </p:nvSpPr>
        <p:spPr>
          <a:xfrm>
            <a:off x="9445680" y="2889360"/>
            <a:ext cx="182880" cy="164520"/>
          </a:xfrm>
          <a:prstGeom prst="line">
            <a:avLst/>
          </a:prstGeom>
          <a:ln w="4572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67"/>
          <p:cNvSpPr/>
          <p:nvPr/>
        </p:nvSpPr>
        <p:spPr>
          <a:xfrm flipV="1">
            <a:off x="9628560" y="2624040"/>
            <a:ext cx="365760" cy="429840"/>
          </a:xfrm>
          <a:prstGeom prst="line">
            <a:avLst/>
          </a:prstGeom>
          <a:ln w="4572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68"/>
          <p:cNvSpPr/>
          <p:nvPr/>
        </p:nvSpPr>
        <p:spPr>
          <a:xfrm>
            <a:off x="8202240" y="3630240"/>
            <a:ext cx="2980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900" spc="91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DŮKAZ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69"/>
          <p:cNvSpPr/>
          <p:nvPr/>
        </p:nvSpPr>
        <p:spPr>
          <a:xfrm>
            <a:off x="8156520" y="3977640"/>
            <a:ext cx="3071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Úspěch se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musí ověřit.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70"/>
          <p:cNvSpPr/>
          <p:nvPr/>
        </p:nvSpPr>
        <p:spPr>
          <a:xfrm>
            <a:off x="685800" y="5212080"/>
            <a:ext cx="10771200" cy="886680"/>
          </a:xfrm>
          <a:prstGeom prst="roundRect">
            <a:avLst>
              <a:gd name="adj" fmla="val 15464"/>
            </a:avLst>
          </a:prstGeom>
          <a:solidFill>
            <a:srgbClr val="0b1930"/>
          </a:solidFill>
          <a:ln w="12700">
            <a:solidFill>
              <a:srgbClr val="0b19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71"/>
          <p:cNvSpPr/>
          <p:nvPr/>
        </p:nvSpPr>
        <p:spPr>
          <a:xfrm>
            <a:off x="685800" y="5212080"/>
            <a:ext cx="63720" cy="886680"/>
          </a:xfrm>
          <a:prstGeom prst="rect">
            <a:avLst/>
          </a:prstGeom>
          <a:solidFill>
            <a:srgbClr val="f5b94e"/>
          </a:solidFill>
          <a:ln w="12700">
            <a:solidFill>
              <a:srgbClr val="f5b94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72"/>
          <p:cNvSpPr/>
          <p:nvPr/>
        </p:nvSpPr>
        <p:spPr>
          <a:xfrm>
            <a:off x="1033200" y="5349240"/>
            <a:ext cx="996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55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„Algoritmy řídí, AI interpretuje a tvoří.“</a:t>
            </a:r>
            <a:endParaRPr b="0" lang="en-US" sz="2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73"/>
          <p:cNvSpPr/>
          <p:nvPr/>
        </p:nvSpPr>
        <p:spPr>
          <a:xfrm>
            <a:off x="1051560" y="6236280"/>
            <a:ext cx="9783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170" strike="noStrike" u="none">
                <a:solidFill>
                  <a:srgbClr val="f5b94e"/>
                </a:solidFill>
                <a:effectLst/>
                <a:uFillTx/>
                <a:latin typeface="Inter"/>
                <a:ea typeface="Inter"/>
              </a:rPr>
              <a:t>CAPABILITIES MAY GROW; AUTHORITY MAY NOT.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0"/>
          <p:cNvSpPr/>
          <p:nvPr/>
        </p:nvSpPr>
        <p:spPr>
          <a:xfrm>
            <a:off x="5029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"/>
          <p:cNvSpPr/>
          <p:nvPr/>
        </p:nvSpPr>
        <p:spPr>
          <a:xfrm>
            <a:off x="1042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2"/>
          <p:cNvSpPr/>
          <p:nvPr/>
        </p:nvSpPr>
        <p:spPr>
          <a:xfrm>
            <a:off x="1581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3"/>
          <p:cNvSpPr/>
          <p:nvPr/>
        </p:nvSpPr>
        <p:spPr>
          <a:xfrm>
            <a:off x="21211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4"/>
          <p:cNvSpPr/>
          <p:nvPr/>
        </p:nvSpPr>
        <p:spPr>
          <a:xfrm>
            <a:off x="26607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5"/>
          <p:cNvSpPr/>
          <p:nvPr/>
        </p:nvSpPr>
        <p:spPr>
          <a:xfrm>
            <a:off x="32004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6"/>
          <p:cNvSpPr/>
          <p:nvPr/>
        </p:nvSpPr>
        <p:spPr>
          <a:xfrm>
            <a:off x="37396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7"/>
          <p:cNvSpPr/>
          <p:nvPr/>
        </p:nvSpPr>
        <p:spPr>
          <a:xfrm>
            <a:off x="42793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8"/>
          <p:cNvSpPr/>
          <p:nvPr/>
        </p:nvSpPr>
        <p:spPr>
          <a:xfrm>
            <a:off x="48186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9"/>
          <p:cNvSpPr/>
          <p:nvPr/>
        </p:nvSpPr>
        <p:spPr>
          <a:xfrm>
            <a:off x="53582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0"/>
          <p:cNvSpPr/>
          <p:nvPr/>
        </p:nvSpPr>
        <p:spPr>
          <a:xfrm>
            <a:off x="58978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1"/>
          <p:cNvSpPr/>
          <p:nvPr/>
        </p:nvSpPr>
        <p:spPr>
          <a:xfrm>
            <a:off x="64371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2"/>
          <p:cNvSpPr/>
          <p:nvPr/>
        </p:nvSpPr>
        <p:spPr>
          <a:xfrm>
            <a:off x="69768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3"/>
          <p:cNvSpPr/>
          <p:nvPr/>
        </p:nvSpPr>
        <p:spPr>
          <a:xfrm>
            <a:off x="75160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4"/>
          <p:cNvSpPr/>
          <p:nvPr/>
        </p:nvSpPr>
        <p:spPr>
          <a:xfrm>
            <a:off x="80557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5"/>
          <p:cNvSpPr/>
          <p:nvPr/>
        </p:nvSpPr>
        <p:spPr>
          <a:xfrm>
            <a:off x="85953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6"/>
          <p:cNvSpPr/>
          <p:nvPr/>
        </p:nvSpPr>
        <p:spPr>
          <a:xfrm>
            <a:off x="91346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7"/>
          <p:cNvSpPr/>
          <p:nvPr/>
        </p:nvSpPr>
        <p:spPr>
          <a:xfrm>
            <a:off x="96742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8"/>
          <p:cNvSpPr/>
          <p:nvPr/>
        </p:nvSpPr>
        <p:spPr>
          <a:xfrm>
            <a:off x="102135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9"/>
          <p:cNvSpPr/>
          <p:nvPr/>
        </p:nvSpPr>
        <p:spPr>
          <a:xfrm>
            <a:off x="10753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0"/>
          <p:cNvSpPr/>
          <p:nvPr/>
        </p:nvSpPr>
        <p:spPr>
          <a:xfrm>
            <a:off x="11292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1"/>
          <p:cNvSpPr/>
          <p:nvPr/>
        </p:nvSpPr>
        <p:spPr>
          <a:xfrm>
            <a:off x="502920" y="7772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22"/>
          <p:cNvSpPr/>
          <p:nvPr/>
        </p:nvSpPr>
        <p:spPr>
          <a:xfrm>
            <a:off x="502920" y="13165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23"/>
          <p:cNvSpPr/>
          <p:nvPr/>
        </p:nvSpPr>
        <p:spPr>
          <a:xfrm>
            <a:off x="502920" y="18561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24"/>
          <p:cNvSpPr/>
          <p:nvPr/>
        </p:nvSpPr>
        <p:spPr>
          <a:xfrm>
            <a:off x="502920" y="23954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25"/>
          <p:cNvSpPr/>
          <p:nvPr/>
        </p:nvSpPr>
        <p:spPr>
          <a:xfrm>
            <a:off x="502920" y="293508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26"/>
          <p:cNvSpPr/>
          <p:nvPr/>
        </p:nvSpPr>
        <p:spPr>
          <a:xfrm>
            <a:off x="502920" y="34747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27"/>
          <p:cNvSpPr/>
          <p:nvPr/>
        </p:nvSpPr>
        <p:spPr>
          <a:xfrm>
            <a:off x="502920" y="40140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28"/>
          <p:cNvSpPr/>
          <p:nvPr/>
        </p:nvSpPr>
        <p:spPr>
          <a:xfrm>
            <a:off x="502920" y="45536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29"/>
          <p:cNvSpPr/>
          <p:nvPr/>
        </p:nvSpPr>
        <p:spPr>
          <a:xfrm>
            <a:off x="502920" y="50929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30"/>
          <p:cNvSpPr/>
          <p:nvPr/>
        </p:nvSpPr>
        <p:spPr>
          <a:xfrm>
            <a:off x="502920" y="56325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31"/>
          <p:cNvSpPr/>
          <p:nvPr/>
        </p:nvSpPr>
        <p:spPr>
          <a:xfrm>
            <a:off x="502920" y="61722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3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33"/>
          <p:cNvSpPr/>
          <p:nvPr/>
        </p:nvSpPr>
        <p:spPr>
          <a:xfrm>
            <a:off x="548640" y="246960"/>
            <a:ext cx="319680" cy="31968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34"/>
          <p:cNvSpPr/>
          <p:nvPr/>
        </p:nvSpPr>
        <p:spPr>
          <a:xfrm>
            <a:off x="548640" y="246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71223"/>
                </a:solidFill>
                <a:effectLst/>
                <a:uFillTx/>
                <a:latin typeface="Inter Display"/>
                <a:ea typeface="Inter Display"/>
              </a:rPr>
              <a:t>F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35"/>
          <p:cNvSpPr/>
          <p:nvPr/>
        </p:nvSpPr>
        <p:spPr>
          <a:xfrm>
            <a:off x="987480" y="2469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FRANKENSTEIN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36"/>
          <p:cNvSpPr/>
          <p:nvPr/>
        </p:nvSpPr>
        <p:spPr>
          <a:xfrm>
            <a:off x="8321040" y="265320"/>
            <a:ext cx="3245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99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04  /  ADAPTIVNÍ UČENÍ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37"/>
          <p:cNvSpPr/>
          <p:nvPr/>
        </p:nvSpPr>
        <p:spPr>
          <a:xfrm>
            <a:off x="640080" y="6656760"/>
            <a:ext cx="10908720" cy="360"/>
          </a:xfrm>
          <a:prstGeom prst="line">
            <a:avLst/>
          </a:prstGeom>
          <a:ln w="10160">
            <a:solidFill>
              <a:srgbClr val="1c35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38"/>
          <p:cNvSpPr/>
          <p:nvPr/>
        </p:nvSpPr>
        <p:spPr>
          <a:xfrm>
            <a:off x="64008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39"/>
          <p:cNvSpPr/>
          <p:nvPr/>
        </p:nvSpPr>
        <p:spPr>
          <a:xfrm>
            <a:off x="212256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40"/>
          <p:cNvSpPr/>
          <p:nvPr/>
        </p:nvSpPr>
        <p:spPr>
          <a:xfrm>
            <a:off x="360540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41"/>
          <p:cNvSpPr/>
          <p:nvPr/>
        </p:nvSpPr>
        <p:spPr>
          <a:xfrm>
            <a:off x="508788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42"/>
          <p:cNvSpPr/>
          <p:nvPr/>
        </p:nvSpPr>
        <p:spPr>
          <a:xfrm>
            <a:off x="657072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43"/>
          <p:cNvSpPr/>
          <p:nvPr/>
        </p:nvSpPr>
        <p:spPr>
          <a:xfrm>
            <a:off x="805320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44"/>
          <p:cNvSpPr/>
          <p:nvPr/>
        </p:nvSpPr>
        <p:spPr>
          <a:xfrm>
            <a:off x="953604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45"/>
          <p:cNvSpPr/>
          <p:nvPr/>
        </p:nvSpPr>
        <p:spPr>
          <a:xfrm>
            <a:off x="10607040" y="648324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939" spc="150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05  /  07</a:t>
            </a:r>
            <a:endParaRPr b="0" lang="en-US" sz="9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46"/>
          <p:cNvSpPr/>
          <p:nvPr/>
        </p:nvSpPr>
        <p:spPr>
          <a:xfrm>
            <a:off x="640080" y="786240"/>
            <a:ext cx="2495880" cy="319680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47"/>
          <p:cNvSpPr/>
          <p:nvPr/>
        </p:nvSpPr>
        <p:spPr>
          <a:xfrm>
            <a:off x="758880" y="786240"/>
            <a:ext cx="225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99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H-SET EVOLUTION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48"/>
          <p:cNvSpPr/>
          <p:nvPr/>
        </p:nvSpPr>
        <p:spPr>
          <a:xfrm>
            <a:off x="640080" y="1197720"/>
            <a:ext cx="1099080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400" spc="-51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Učí se metoda. Ne pravomoc.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49"/>
          <p:cNvSpPr/>
          <p:nvPr/>
        </p:nvSpPr>
        <p:spPr>
          <a:xfrm>
            <a:off x="2258640" y="2514600"/>
            <a:ext cx="3200040" cy="3200040"/>
          </a:xfrm>
          <a:prstGeom prst="ellipse">
            <a:avLst/>
          </a:prstGeom>
          <a:noFill/>
          <a:ln w="26670">
            <a:solidFill>
              <a:srgbClr val="428bff">
                <a:alpha val="6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50"/>
          <p:cNvSpPr/>
          <p:nvPr/>
        </p:nvSpPr>
        <p:spPr>
          <a:xfrm>
            <a:off x="2496240" y="2752200"/>
            <a:ext cx="2724480" cy="2724480"/>
          </a:xfrm>
          <a:prstGeom prst="ellipse">
            <a:avLst/>
          </a:prstGeom>
          <a:noFill/>
          <a:ln w="8255">
            <a:solidFill>
              <a:srgbClr val="428bff">
                <a:alpha val="2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51"/>
          <p:cNvSpPr/>
          <p:nvPr/>
        </p:nvSpPr>
        <p:spPr>
          <a:xfrm>
            <a:off x="3044880" y="3300840"/>
            <a:ext cx="1627200" cy="1627200"/>
          </a:xfrm>
          <a:prstGeom prst="ellipse">
            <a:avLst/>
          </a:prstGeom>
          <a:solidFill>
            <a:srgbClr val="0b1930"/>
          </a:solidFill>
          <a:ln w="1524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52"/>
          <p:cNvSpPr/>
          <p:nvPr/>
        </p:nvSpPr>
        <p:spPr>
          <a:xfrm>
            <a:off x="3173040" y="372168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67dbff"/>
                </a:solidFill>
                <a:effectLst/>
                <a:uFillTx/>
                <a:latin typeface="Inter Display"/>
                <a:ea typeface="Inter Display"/>
              </a:rPr>
              <a:t>H-SET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53"/>
          <p:cNvSpPr/>
          <p:nvPr/>
        </p:nvSpPr>
        <p:spPr>
          <a:xfrm>
            <a:off x="3136320" y="4133160"/>
            <a:ext cx="1444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15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EVOLUTION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54"/>
          <p:cNvSpPr/>
          <p:nvPr/>
        </p:nvSpPr>
        <p:spPr>
          <a:xfrm>
            <a:off x="4617720" y="2931120"/>
            <a:ext cx="116640" cy="11664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800" bIns="37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55"/>
          <p:cNvSpPr/>
          <p:nvPr/>
        </p:nvSpPr>
        <p:spPr>
          <a:xfrm>
            <a:off x="5122800" y="4485960"/>
            <a:ext cx="116640" cy="11664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800" bIns="37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56"/>
          <p:cNvSpPr/>
          <p:nvPr/>
        </p:nvSpPr>
        <p:spPr>
          <a:xfrm>
            <a:off x="3800160" y="5447160"/>
            <a:ext cx="116640" cy="11664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800" bIns="37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57"/>
          <p:cNvSpPr/>
          <p:nvPr/>
        </p:nvSpPr>
        <p:spPr>
          <a:xfrm>
            <a:off x="2477520" y="4485960"/>
            <a:ext cx="116640" cy="11664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800" bIns="37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58"/>
          <p:cNvSpPr/>
          <p:nvPr/>
        </p:nvSpPr>
        <p:spPr>
          <a:xfrm>
            <a:off x="2982600" y="2931120"/>
            <a:ext cx="116640" cy="11664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7800" bIns="37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59"/>
          <p:cNvSpPr/>
          <p:nvPr/>
        </p:nvSpPr>
        <p:spPr>
          <a:xfrm>
            <a:off x="2898720" y="2121480"/>
            <a:ext cx="1919880" cy="575640"/>
          </a:xfrm>
          <a:prstGeom prst="roundRect">
            <a:avLst>
              <a:gd name="adj" fmla="val 23810"/>
            </a:avLst>
          </a:prstGeom>
          <a:solidFill>
            <a:srgbClr val="11243b"/>
          </a:solidFill>
          <a:ln w="14605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60"/>
          <p:cNvSpPr/>
          <p:nvPr/>
        </p:nvSpPr>
        <p:spPr>
          <a:xfrm>
            <a:off x="3035880" y="2176200"/>
            <a:ext cx="3196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01</a:t>
            </a:r>
            <a:endParaRPr b="0" lang="en-US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61"/>
          <p:cNvSpPr/>
          <p:nvPr/>
        </p:nvSpPr>
        <p:spPr>
          <a:xfrm>
            <a:off x="3383280" y="2185560"/>
            <a:ext cx="1362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PROFIL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62"/>
          <p:cNvSpPr/>
          <p:nvPr/>
        </p:nvSpPr>
        <p:spPr>
          <a:xfrm>
            <a:off x="4506120" y="3309120"/>
            <a:ext cx="1974600" cy="575640"/>
          </a:xfrm>
          <a:prstGeom prst="roundRect">
            <a:avLst>
              <a:gd name="adj" fmla="val 23810"/>
            </a:avLst>
          </a:prstGeom>
          <a:solidFill>
            <a:srgbClr val="11243b"/>
          </a:solidFill>
          <a:ln w="14605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63"/>
          <p:cNvSpPr/>
          <p:nvPr/>
        </p:nvSpPr>
        <p:spPr>
          <a:xfrm>
            <a:off x="4643280" y="3364200"/>
            <a:ext cx="3196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02</a:t>
            </a:r>
            <a:endParaRPr b="0" lang="en-US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64"/>
          <p:cNvSpPr/>
          <p:nvPr/>
        </p:nvSpPr>
        <p:spPr>
          <a:xfrm>
            <a:off x="4990680" y="3373200"/>
            <a:ext cx="1416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VÝBĚR H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65"/>
          <p:cNvSpPr/>
          <p:nvPr/>
        </p:nvSpPr>
        <p:spPr>
          <a:xfrm>
            <a:off x="4046400" y="5231160"/>
            <a:ext cx="1645560" cy="575640"/>
          </a:xfrm>
          <a:prstGeom prst="roundRect">
            <a:avLst>
              <a:gd name="adj" fmla="val 23810"/>
            </a:avLst>
          </a:prstGeom>
          <a:solidFill>
            <a:srgbClr val="11243b"/>
          </a:solidFill>
          <a:ln w="14605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66"/>
          <p:cNvSpPr/>
          <p:nvPr/>
        </p:nvSpPr>
        <p:spPr>
          <a:xfrm>
            <a:off x="4183560" y="5286240"/>
            <a:ext cx="3196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03</a:t>
            </a:r>
            <a:endParaRPr b="0" lang="en-US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67"/>
          <p:cNvSpPr/>
          <p:nvPr/>
        </p:nvSpPr>
        <p:spPr>
          <a:xfrm>
            <a:off x="4530960" y="5295240"/>
            <a:ext cx="1087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BĚH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68"/>
          <p:cNvSpPr/>
          <p:nvPr/>
        </p:nvSpPr>
        <p:spPr>
          <a:xfrm>
            <a:off x="1874520" y="5231160"/>
            <a:ext cx="1947240" cy="575640"/>
          </a:xfrm>
          <a:prstGeom prst="roundRect">
            <a:avLst>
              <a:gd name="adj" fmla="val 23810"/>
            </a:avLst>
          </a:prstGeom>
          <a:solidFill>
            <a:srgbClr val="11243b"/>
          </a:solidFill>
          <a:ln w="14605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69"/>
          <p:cNvSpPr/>
          <p:nvPr/>
        </p:nvSpPr>
        <p:spPr>
          <a:xfrm>
            <a:off x="2011680" y="5286240"/>
            <a:ext cx="3196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04</a:t>
            </a:r>
            <a:endParaRPr b="0" lang="en-US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70"/>
          <p:cNvSpPr/>
          <p:nvPr/>
        </p:nvSpPr>
        <p:spPr>
          <a:xfrm>
            <a:off x="2359080" y="5295240"/>
            <a:ext cx="1389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3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DIAGNÓZA</a:t>
            </a:r>
            <a:endParaRPr b="0" lang="en-US" sz="13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71"/>
          <p:cNvSpPr/>
          <p:nvPr/>
        </p:nvSpPr>
        <p:spPr>
          <a:xfrm>
            <a:off x="1227240" y="3309120"/>
            <a:ext cx="1992960" cy="575640"/>
          </a:xfrm>
          <a:prstGeom prst="roundRect">
            <a:avLst>
              <a:gd name="adj" fmla="val 23810"/>
            </a:avLst>
          </a:prstGeom>
          <a:solidFill>
            <a:srgbClr val="11243b"/>
          </a:solidFill>
          <a:ln w="14605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72"/>
          <p:cNvSpPr/>
          <p:nvPr/>
        </p:nvSpPr>
        <p:spPr>
          <a:xfrm>
            <a:off x="1364400" y="3364200"/>
            <a:ext cx="31968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28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05</a:t>
            </a:r>
            <a:endParaRPr b="0" lang="en-US" sz="12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73"/>
          <p:cNvSpPr/>
          <p:nvPr/>
        </p:nvSpPr>
        <p:spPr>
          <a:xfrm>
            <a:off x="1711800" y="3373200"/>
            <a:ext cx="143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3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EXPERIMENT</a:t>
            </a:r>
            <a:endParaRPr b="0" lang="en-US" sz="13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74"/>
          <p:cNvSpPr/>
          <p:nvPr/>
        </p:nvSpPr>
        <p:spPr>
          <a:xfrm>
            <a:off x="6903720" y="2002320"/>
            <a:ext cx="360" cy="3849840"/>
          </a:xfrm>
          <a:prstGeom prst="line">
            <a:avLst/>
          </a:prstGeom>
          <a:ln w="1270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75"/>
          <p:cNvSpPr/>
          <p:nvPr/>
        </p:nvSpPr>
        <p:spPr>
          <a:xfrm>
            <a:off x="7205400" y="2030040"/>
            <a:ext cx="42973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700" spc="45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OD HYPOTÉZY KE ZKUŠENOSTI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76"/>
          <p:cNvSpPr/>
          <p:nvPr/>
        </p:nvSpPr>
        <p:spPr>
          <a:xfrm>
            <a:off x="7232760" y="2633400"/>
            <a:ext cx="4077720" cy="795240"/>
          </a:xfrm>
          <a:prstGeom prst="roundRect">
            <a:avLst>
              <a:gd name="adj" fmla="val 14943"/>
            </a:avLst>
          </a:prstGeom>
          <a:solidFill>
            <a:srgbClr val="11243b">
              <a:alpha val="97000"/>
            </a:srgbClr>
          </a:solidFill>
          <a:ln w="11430">
            <a:solidFill>
              <a:srgbClr val="7c9a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77"/>
          <p:cNvSpPr/>
          <p:nvPr/>
        </p:nvSpPr>
        <p:spPr>
          <a:xfrm>
            <a:off x="7461360" y="2853000"/>
            <a:ext cx="347040" cy="347040"/>
          </a:xfrm>
          <a:prstGeom prst="ellipse">
            <a:avLst/>
          </a:prstGeom>
          <a:solidFill>
            <a:srgbClr val="7c9ab4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78"/>
          <p:cNvSpPr/>
          <p:nvPr/>
        </p:nvSpPr>
        <p:spPr>
          <a:xfrm>
            <a:off x="7452360" y="2880360"/>
            <a:ext cx="3654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71223"/>
                </a:solidFill>
                <a:effectLst/>
                <a:uFillTx/>
                <a:latin typeface="Inter"/>
                <a:ea typeface="Inter"/>
              </a:rPr>
              <a:t>01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79"/>
          <p:cNvSpPr/>
          <p:nvPr/>
        </p:nvSpPr>
        <p:spPr>
          <a:xfrm>
            <a:off x="8001000" y="2752200"/>
            <a:ext cx="29624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KANDIDÁT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80"/>
          <p:cNvSpPr/>
          <p:nvPr/>
        </p:nvSpPr>
        <p:spPr>
          <a:xfrm>
            <a:off x="8001000" y="3081600"/>
            <a:ext cx="286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návrh jiné sestavy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81"/>
          <p:cNvSpPr/>
          <p:nvPr/>
        </p:nvSpPr>
        <p:spPr>
          <a:xfrm>
            <a:off x="9226080" y="3465360"/>
            <a:ext cx="360" cy="182880"/>
          </a:xfrm>
          <a:prstGeom prst="line">
            <a:avLst/>
          </a:prstGeom>
          <a:ln w="15875">
            <a:solidFill>
              <a:srgbClr val="65a8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82"/>
          <p:cNvSpPr/>
          <p:nvPr/>
        </p:nvSpPr>
        <p:spPr>
          <a:xfrm>
            <a:off x="7232760" y="3703320"/>
            <a:ext cx="4077720" cy="795240"/>
          </a:xfrm>
          <a:prstGeom prst="roundRect">
            <a:avLst>
              <a:gd name="adj" fmla="val 14943"/>
            </a:avLst>
          </a:prstGeom>
          <a:solidFill>
            <a:srgbClr val="11243b">
              <a:alpha val="97000"/>
            </a:srgbClr>
          </a:solidFill>
          <a:ln w="11430">
            <a:solidFill>
              <a:srgbClr val="65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83"/>
          <p:cNvSpPr/>
          <p:nvPr/>
        </p:nvSpPr>
        <p:spPr>
          <a:xfrm>
            <a:off x="7461360" y="3922920"/>
            <a:ext cx="347040" cy="347040"/>
          </a:xfrm>
          <a:prstGeom prst="ellipse">
            <a:avLst/>
          </a:prstGeom>
          <a:solidFill>
            <a:srgbClr val="65a8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84"/>
          <p:cNvSpPr/>
          <p:nvPr/>
        </p:nvSpPr>
        <p:spPr>
          <a:xfrm>
            <a:off x="7452360" y="3950280"/>
            <a:ext cx="3654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71223"/>
                </a:solidFill>
                <a:effectLst/>
                <a:uFillTx/>
                <a:latin typeface="Inter"/>
                <a:ea typeface="Inter"/>
              </a:rPr>
              <a:t>02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85"/>
          <p:cNvSpPr/>
          <p:nvPr/>
        </p:nvSpPr>
        <p:spPr>
          <a:xfrm>
            <a:off x="8001000" y="3822120"/>
            <a:ext cx="29624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PODPOŘENO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86"/>
          <p:cNvSpPr/>
          <p:nvPr/>
        </p:nvSpPr>
        <p:spPr>
          <a:xfrm>
            <a:off x="8001000" y="4151520"/>
            <a:ext cx="286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první reálné srovnání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87"/>
          <p:cNvSpPr/>
          <p:nvPr/>
        </p:nvSpPr>
        <p:spPr>
          <a:xfrm>
            <a:off x="9226080" y="4535280"/>
            <a:ext cx="360" cy="182880"/>
          </a:xfrm>
          <a:prstGeom prst="line">
            <a:avLst/>
          </a:prstGeom>
          <a:ln w="15875">
            <a:solidFill>
              <a:srgbClr val="65a8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88"/>
          <p:cNvSpPr/>
          <p:nvPr/>
        </p:nvSpPr>
        <p:spPr>
          <a:xfrm>
            <a:off x="7232760" y="4773240"/>
            <a:ext cx="4077720" cy="795240"/>
          </a:xfrm>
          <a:prstGeom prst="roundRect">
            <a:avLst>
              <a:gd name="adj" fmla="val 14943"/>
            </a:avLst>
          </a:prstGeom>
          <a:solidFill>
            <a:srgbClr val="11243b">
              <a:alpha val="97000"/>
            </a:srgbClr>
          </a:solidFill>
          <a:ln w="11430">
            <a:solidFill>
              <a:srgbClr val="6ae7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89"/>
          <p:cNvSpPr/>
          <p:nvPr/>
        </p:nvSpPr>
        <p:spPr>
          <a:xfrm>
            <a:off x="7461360" y="4992480"/>
            <a:ext cx="347040" cy="347040"/>
          </a:xfrm>
          <a:prstGeom prst="ellipse">
            <a:avLst/>
          </a:prstGeom>
          <a:solidFill>
            <a:srgbClr val="6ae7c6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90"/>
          <p:cNvSpPr/>
          <p:nvPr/>
        </p:nvSpPr>
        <p:spPr>
          <a:xfrm>
            <a:off x="7452360" y="5020200"/>
            <a:ext cx="3654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71223"/>
                </a:solidFill>
                <a:effectLst/>
                <a:uFillTx/>
                <a:latin typeface="Inter"/>
                <a:ea typeface="Inter"/>
              </a:rPr>
              <a:t>03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91"/>
          <p:cNvSpPr/>
          <p:nvPr/>
        </p:nvSpPr>
        <p:spPr>
          <a:xfrm>
            <a:off x="8001000" y="4892040"/>
            <a:ext cx="29624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OVĚŘENO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92"/>
          <p:cNvSpPr/>
          <p:nvPr/>
        </p:nvSpPr>
        <p:spPr>
          <a:xfrm>
            <a:off x="8001000" y="5221080"/>
            <a:ext cx="286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alespoň dvě srovnání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93"/>
          <p:cNvSpPr/>
          <p:nvPr/>
        </p:nvSpPr>
        <p:spPr>
          <a:xfrm>
            <a:off x="7205400" y="5742360"/>
            <a:ext cx="4068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20" strike="noStrike" u="none">
                <a:solidFill>
                  <a:srgbClr val="ffda86"/>
                </a:solidFill>
                <a:effectLst/>
                <a:uFillTx/>
                <a:latin typeface="Inter"/>
                <a:ea typeface="Inter"/>
              </a:rPr>
              <a:t>Pevné hranice: zamčený cíl a systémová oprávnění.</a:t>
            </a:r>
            <a:endParaRPr b="0" lang="en-US" sz="13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0"/>
          <p:cNvSpPr/>
          <p:nvPr/>
        </p:nvSpPr>
        <p:spPr>
          <a:xfrm>
            <a:off x="5029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1"/>
          <p:cNvSpPr/>
          <p:nvPr/>
        </p:nvSpPr>
        <p:spPr>
          <a:xfrm>
            <a:off x="1042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2"/>
          <p:cNvSpPr/>
          <p:nvPr/>
        </p:nvSpPr>
        <p:spPr>
          <a:xfrm>
            <a:off x="1581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3"/>
          <p:cNvSpPr/>
          <p:nvPr/>
        </p:nvSpPr>
        <p:spPr>
          <a:xfrm>
            <a:off x="21211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Shape 4"/>
          <p:cNvSpPr/>
          <p:nvPr/>
        </p:nvSpPr>
        <p:spPr>
          <a:xfrm>
            <a:off x="26607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5"/>
          <p:cNvSpPr/>
          <p:nvPr/>
        </p:nvSpPr>
        <p:spPr>
          <a:xfrm>
            <a:off x="32004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6"/>
          <p:cNvSpPr/>
          <p:nvPr/>
        </p:nvSpPr>
        <p:spPr>
          <a:xfrm>
            <a:off x="37396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7"/>
          <p:cNvSpPr/>
          <p:nvPr/>
        </p:nvSpPr>
        <p:spPr>
          <a:xfrm>
            <a:off x="42793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8"/>
          <p:cNvSpPr/>
          <p:nvPr/>
        </p:nvSpPr>
        <p:spPr>
          <a:xfrm>
            <a:off x="48186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9"/>
          <p:cNvSpPr/>
          <p:nvPr/>
        </p:nvSpPr>
        <p:spPr>
          <a:xfrm>
            <a:off x="53582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10"/>
          <p:cNvSpPr/>
          <p:nvPr/>
        </p:nvSpPr>
        <p:spPr>
          <a:xfrm>
            <a:off x="58978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11"/>
          <p:cNvSpPr/>
          <p:nvPr/>
        </p:nvSpPr>
        <p:spPr>
          <a:xfrm>
            <a:off x="64371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2"/>
          <p:cNvSpPr/>
          <p:nvPr/>
        </p:nvSpPr>
        <p:spPr>
          <a:xfrm>
            <a:off x="69768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13"/>
          <p:cNvSpPr/>
          <p:nvPr/>
        </p:nvSpPr>
        <p:spPr>
          <a:xfrm>
            <a:off x="75160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14"/>
          <p:cNvSpPr/>
          <p:nvPr/>
        </p:nvSpPr>
        <p:spPr>
          <a:xfrm>
            <a:off x="80557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15"/>
          <p:cNvSpPr/>
          <p:nvPr/>
        </p:nvSpPr>
        <p:spPr>
          <a:xfrm>
            <a:off x="85953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6"/>
          <p:cNvSpPr/>
          <p:nvPr/>
        </p:nvSpPr>
        <p:spPr>
          <a:xfrm>
            <a:off x="91346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17"/>
          <p:cNvSpPr/>
          <p:nvPr/>
        </p:nvSpPr>
        <p:spPr>
          <a:xfrm>
            <a:off x="96742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8"/>
          <p:cNvSpPr/>
          <p:nvPr/>
        </p:nvSpPr>
        <p:spPr>
          <a:xfrm>
            <a:off x="102135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19"/>
          <p:cNvSpPr/>
          <p:nvPr/>
        </p:nvSpPr>
        <p:spPr>
          <a:xfrm>
            <a:off x="10753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20"/>
          <p:cNvSpPr/>
          <p:nvPr/>
        </p:nvSpPr>
        <p:spPr>
          <a:xfrm>
            <a:off x="11292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21"/>
          <p:cNvSpPr/>
          <p:nvPr/>
        </p:nvSpPr>
        <p:spPr>
          <a:xfrm>
            <a:off x="502920" y="7772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22"/>
          <p:cNvSpPr/>
          <p:nvPr/>
        </p:nvSpPr>
        <p:spPr>
          <a:xfrm>
            <a:off x="502920" y="13165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23"/>
          <p:cNvSpPr/>
          <p:nvPr/>
        </p:nvSpPr>
        <p:spPr>
          <a:xfrm>
            <a:off x="502920" y="18561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24"/>
          <p:cNvSpPr/>
          <p:nvPr/>
        </p:nvSpPr>
        <p:spPr>
          <a:xfrm>
            <a:off x="502920" y="23954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25"/>
          <p:cNvSpPr/>
          <p:nvPr/>
        </p:nvSpPr>
        <p:spPr>
          <a:xfrm>
            <a:off x="502920" y="293508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6"/>
          <p:cNvSpPr/>
          <p:nvPr/>
        </p:nvSpPr>
        <p:spPr>
          <a:xfrm>
            <a:off x="502920" y="34747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27"/>
          <p:cNvSpPr/>
          <p:nvPr/>
        </p:nvSpPr>
        <p:spPr>
          <a:xfrm>
            <a:off x="502920" y="40140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28"/>
          <p:cNvSpPr/>
          <p:nvPr/>
        </p:nvSpPr>
        <p:spPr>
          <a:xfrm>
            <a:off x="502920" y="45536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29"/>
          <p:cNvSpPr/>
          <p:nvPr/>
        </p:nvSpPr>
        <p:spPr>
          <a:xfrm>
            <a:off x="502920" y="50929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30"/>
          <p:cNvSpPr/>
          <p:nvPr/>
        </p:nvSpPr>
        <p:spPr>
          <a:xfrm>
            <a:off x="502920" y="56325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31"/>
          <p:cNvSpPr/>
          <p:nvPr/>
        </p:nvSpPr>
        <p:spPr>
          <a:xfrm>
            <a:off x="502920" y="61722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3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33"/>
          <p:cNvSpPr/>
          <p:nvPr/>
        </p:nvSpPr>
        <p:spPr>
          <a:xfrm>
            <a:off x="548640" y="246960"/>
            <a:ext cx="319680" cy="31968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34"/>
          <p:cNvSpPr/>
          <p:nvPr/>
        </p:nvSpPr>
        <p:spPr>
          <a:xfrm>
            <a:off x="548640" y="246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71223"/>
                </a:solidFill>
                <a:effectLst/>
                <a:uFillTx/>
                <a:latin typeface="Inter Display"/>
                <a:ea typeface="Inter Display"/>
              </a:rPr>
              <a:t>F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35"/>
          <p:cNvSpPr/>
          <p:nvPr/>
        </p:nvSpPr>
        <p:spPr>
          <a:xfrm>
            <a:off x="987480" y="2469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FRANKENSTEIN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36"/>
          <p:cNvSpPr/>
          <p:nvPr/>
        </p:nvSpPr>
        <p:spPr>
          <a:xfrm>
            <a:off x="8321040" y="265320"/>
            <a:ext cx="3245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99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05  /  KNOWLEDGE BASE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37"/>
          <p:cNvSpPr/>
          <p:nvPr/>
        </p:nvSpPr>
        <p:spPr>
          <a:xfrm>
            <a:off x="640080" y="6656760"/>
            <a:ext cx="10908720" cy="360"/>
          </a:xfrm>
          <a:prstGeom prst="line">
            <a:avLst/>
          </a:prstGeom>
          <a:ln w="10160">
            <a:solidFill>
              <a:srgbClr val="1c35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38"/>
          <p:cNvSpPr/>
          <p:nvPr/>
        </p:nvSpPr>
        <p:spPr>
          <a:xfrm>
            <a:off x="64008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39"/>
          <p:cNvSpPr/>
          <p:nvPr/>
        </p:nvSpPr>
        <p:spPr>
          <a:xfrm>
            <a:off x="212256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40"/>
          <p:cNvSpPr/>
          <p:nvPr/>
        </p:nvSpPr>
        <p:spPr>
          <a:xfrm>
            <a:off x="360540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41"/>
          <p:cNvSpPr/>
          <p:nvPr/>
        </p:nvSpPr>
        <p:spPr>
          <a:xfrm>
            <a:off x="508788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42"/>
          <p:cNvSpPr/>
          <p:nvPr/>
        </p:nvSpPr>
        <p:spPr>
          <a:xfrm>
            <a:off x="657072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43"/>
          <p:cNvSpPr/>
          <p:nvPr/>
        </p:nvSpPr>
        <p:spPr>
          <a:xfrm>
            <a:off x="805320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44"/>
          <p:cNvSpPr/>
          <p:nvPr/>
        </p:nvSpPr>
        <p:spPr>
          <a:xfrm>
            <a:off x="9536040" y="6684120"/>
            <a:ext cx="1445760" cy="33480"/>
          </a:xfrm>
          <a:prstGeom prst="rect">
            <a:avLst/>
          </a:prstGeom>
          <a:solidFill>
            <a:srgbClr val="2a4567"/>
          </a:solidFill>
          <a:ln w="12700">
            <a:solidFill>
              <a:srgbClr val="2a4567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45"/>
          <p:cNvSpPr/>
          <p:nvPr/>
        </p:nvSpPr>
        <p:spPr>
          <a:xfrm>
            <a:off x="10607040" y="648324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939" spc="150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06  /  07</a:t>
            </a:r>
            <a:endParaRPr b="0" lang="en-US" sz="9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46"/>
          <p:cNvSpPr/>
          <p:nvPr/>
        </p:nvSpPr>
        <p:spPr>
          <a:xfrm>
            <a:off x="640080" y="786240"/>
            <a:ext cx="2435760" cy="319680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47"/>
          <p:cNvSpPr/>
          <p:nvPr/>
        </p:nvSpPr>
        <p:spPr>
          <a:xfrm>
            <a:off x="758880" y="786240"/>
            <a:ext cx="2197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150" spc="99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TÝMOVÁ PAMĚŤ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48"/>
          <p:cNvSpPr/>
          <p:nvPr/>
        </p:nvSpPr>
        <p:spPr>
          <a:xfrm>
            <a:off x="640080" y="1197720"/>
            <a:ext cx="1099080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400" spc="-51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Zkušenosti, které zůstávají.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49"/>
          <p:cNvSpPr/>
          <p:nvPr/>
        </p:nvSpPr>
        <p:spPr>
          <a:xfrm>
            <a:off x="704160" y="2020680"/>
            <a:ext cx="6564960" cy="3894840"/>
          </a:xfrm>
          <a:prstGeom prst="roundRect">
            <a:avLst>
              <a:gd name="adj" fmla="val 4930"/>
            </a:avLst>
          </a:prstGeom>
          <a:solidFill>
            <a:srgbClr val="11243b"/>
          </a:solidFill>
          <a:ln w="12065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50"/>
          <p:cNvSpPr/>
          <p:nvPr/>
        </p:nvSpPr>
        <p:spPr>
          <a:xfrm>
            <a:off x="713160" y="2030040"/>
            <a:ext cx="6546600" cy="594000"/>
          </a:xfrm>
          <a:prstGeom prst="roundRect">
            <a:avLst>
              <a:gd name="adj" fmla="val 24615"/>
            </a:avLst>
          </a:prstGeom>
          <a:solidFill>
            <a:srgbClr val="132c4a">
              <a:alpha val="95000"/>
            </a:srgbClr>
          </a:solidFill>
          <a:ln w="12700">
            <a:solidFill>
              <a:srgbClr val="132c4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51"/>
          <p:cNvSpPr/>
          <p:nvPr/>
        </p:nvSpPr>
        <p:spPr>
          <a:xfrm>
            <a:off x="983160" y="2235600"/>
            <a:ext cx="136800" cy="136800"/>
          </a:xfrm>
          <a:prstGeom prst="ellipse">
            <a:avLst/>
          </a:prstGeom>
          <a:solidFill>
            <a:srgbClr val="ff9a83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52"/>
          <p:cNvSpPr/>
          <p:nvPr/>
        </p:nvSpPr>
        <p:spPr>
          <a:xfrm>
            <a:off x="1211760" y="2235600"/>
            <a:ext cx="136800" cy="136800"/>
          </a:xfrm>
          <a:prstGeom prst="ellipse">
            <a:avLst/>
          </a:prstGeom>
          <a:solidFill>
            <a:srgbClr val="f5b94e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53"/>
          <p:cNvSpPr/>
          <p:nvPr/>
        </p:nvSpPr>
        <p:spPr>
          <a:xfrm>
            <a:off x="1440360" y="2235600"/>
            <a:ext cx="136800" cy="136800"/>
          </a:xfrm>
          <a:prstGeom prst="ellipse">
            <a:avLst/>
          </a:prstGeom>
          <a:solidFill>
            <a:srgbClr val="6ae7c6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54"/>
          <p:cNvSpPr/>
          <p:nvPr/>
        </p:nvSpPr>
        <p:spPr>
          <a:xfrm>
            <a:off x="1810440" y="2130480"/>
            <a:ext cx="481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7fbff"/>
                </a:solidFill>
                <a:effectLst/>
                <a:uFillTx/>
                <a:latin typeface="Cascadia Code"/>
                <a:ea typeface="Cascadia Code"/>
              </a:rPr>
              <a:t>knowledge/  ·  týmový Git repozitář</a:t>
            </a:r>
            <a:endParaRPr b="0" lang="en-US" sz="1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55"/>
          <p:cNvSpPr/>
          <p:nvPr/>
        </p:nvSpPr>
        <p:spPr>
          <a:xfrm>
            <a:off x="969120" y="2853000"/>
            <a:ext cx="5988960" cy="557280"/>
          </a:xfrm>
          <a:prstGeom prst="roundRect">
            <a:avLst>
              <a:gd name="adj" fmla="val 14754"/>
            </a:avLst>
          </a:prstGeom>
          <a:solidFill>
            <a:srgbClr val="11243b"/>
          </a:solidFill>
          <a:ln w="12700">
            <a:solidFill>
              <a:srgbClr val="11243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56"/>
          <p:cNvSpPr/>
          <p:nvPr/>
        </p:nvSpPr>
        <p:spPr>
          <a:xfrm>
            <a:off x="1280160" y="2980800"/>
            <a:ext cx="360" cy="311040"/>
          </a:xfrm>
          <a:prstGeom prst="line">
            <a:avLst/>
          </a:prstGeom>
          <a:ln w="1397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57"/>
          <p:cNvSpPr/>
          <p:nvPr/>
        </p:nvSpPr>
        <p:spPr>
          <a:xfrm>
            <a:off x="1280160" y="3126960"/>
            <a:ext cx="274320" cy="360"/>
          </a:xfrm>
          <a:prstGeom prst="line">
            <a:avLst/>
          </a:prstGeom>
          <a:ln w="1397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58"/>
          <p:cNvSpPr/>
          <p:nvPr/>
        </p:nvSpPr>
        <p:spPr>
          <a:xfrm>
            <a:off x="1627560" y="2999160"/>
            <a:ext cx="301320" cy="246600"/>
          </a:xfrm>
          <a:prstGeom prst="roundRect">
            <a:avLst>
              <a:gd name="adj" fmla="val 18519"/>
            </a:avLst>
          </a:prstGeom>
          <a:solidFill>
            <a:srgbClr val="13478f"/>
          </a:solidFill>
          <a:ln w="1016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59"/>
          <p:cNvSpPr/>
          <p:nvPr/>
        </p:nvSpPr>
        <p:spPr>
          <a:xfrm>
            <a:off x="1627560" y="2962800"/>
            <a:ext cx="127800" cy="63720"/>
          </a:xfrm>
          <a:prstGeom prst="roundRect">
            <a:avLst>
              <a:gd name="adj" fmla="val 25714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60"/>
          <p:cNvSpPr/>
          <p:nvPr/>
        </p:nvSpPr>
        <p:spPr>
          <a:xfrm>
            <a:off x="2039040" y="2944440"/>
            <a:ext cx="24685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710" strike="noStrike" u="none">
                <a:solidFill>
                  <a:srgbClr val="67dbff"/>
                </a:solidFill>
                <a:effectLst/>
                <a:uFillTx/>
                <a:latin typeface="Cascadia Code"/>
                <a:ea typeface="Cascadia Code"/>
              </a:rPr>
              <a:t>sets/</a:t>
            </a:r>
            <a:endParaRPr b="0" lang="en-US" sz="1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61"/>
          <p:cNvSpPr/>
          <p:nvPr/>
        </p:nvSpPr>
        <p:spPr>
          <a:xfrm>
            <a:off x="4608720" y="2944440"/>
            <a:ext cx="21484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analytické H-sestavy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62"/>
          <p:cNvSpPr/>
          <p:nvPr/>
        </p:nvSpPr>
        <p:spPr>
          <a:xfrm>
            <a:off x="969120" y="3547800"/>
            <a:ext cx="5988960" cy="557280"/>
          </a:xfrm>
          <a:prstGeom prst="roundRect">
            <a:avLst>
              <a:gd name="adj" fmla="val 14754"/>
            </a:avLst>
          </a:prstGeom>
          <a:solidFill>
            <a:srgbClr val="0b1930"/>
          </a:solidFill>
          <a:ln w="12700">
            <a:solidFill>
              <a:srgbClr val="0b19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63"/>
          <p:cNvSpPr/>
          <p:nvPr/>
        </p:nvSpPr>
        <p:spPr>
          <a:xfrm>
            <a:off x="1280160" y="3675600"/>
            <a:ext cx="360" cy="311040"/>
          </a:xfrm>
          <a:prstGeom prst="line">
            <a:avLst/>
          </a:prstGeom>
          <a:ln w="1397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64"/>
          <p:cNvSpPr/>
          <p:nvPr/>
        </p:nvSpPr>
        <p:spPr>
          <a:xfrm>
            <a:off x="1280160" y="3822120"/>
            <a:ext cx="274320" cy="360"/>
          </a:xfrm>
          <a:prstGeom prst="line">
            <a:avLst/>
          </a:prstGeom>
          <a:ln w="1397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65"/>
          <p:cNvSpPr/>
          <p:nvPr/>
        </p:nvSpPr>
        <p:spPr>
          <a:xfrm>
            <a:off x="1627560" y="3694320"/>
            <a:ext cx="301320" cy="246600"/>
          </a:xfrm>
          <a:prstGeom prst="roundRect">
            <a:avLst>
              <a:gd name="adj" fmla="val 18519"/>
            </a:avLst>
          </a:prstGeom>
          <a:solidFill>
            <a:srgbClr val="13478f"/>
          </a:solidFill>
          <a:ln w="1016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66"/>
          <p:cNvSpPr/>
          <p:nvPr/>
        </p:nvSpPr>
        <p:spPr>
          <a:xfrm>
            <a:off x="1627560" y="3657600"/>
            <a:ext cx="127800" cy="63720"/>
          </a:xfrm>
          <a:prstGeom prst="roundRect">
            <a:avLst>
              <a:gd name="adj" fmla="val 25714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67"/>
          <p:cNvSpPr/>
          <p:nvPr/>
        </p:nvSpPr>
        <p:spPr>
          <a:xfrm>
            <a:off x="2039040" y="3639240"/>
            <a:ext cx="24685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710" strike="noStrike" u="none">
                <a:solidFill>
                  <a:srgbClr val="67dbff"/>
                </a:solidFill>
                <a:effectLst/>
                <a:uFillTx/>
                <a:latin typeface="Cascadia Code"/>
                <a:ea typeface="Cascadia Code"/>
              </a:rPr>
              <a:t>experiences/</a:t>
            </a:r>
            <a:endParaRPr b="0" lang="en-US" sz="1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68"/>
          <p:cNvSpPr/>
          <p:nvPr/>
        </p:nvSpPr>
        <p:spPr>
          <a:xfrm>
            <a:off x="4608720" y="3639240"/>
            <a:ext cx="21484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zkušenosti z běhů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69"/>
          <p:cNvSpPr/>
          <p:nvPr/>
        </p:nvSpPr>
        <p:spPr>
          <a:xfrm>
            <a:off x="969120" y="4242960"/>
            <a:ext cx="5988960" cy="557280"/>
          </a:xfrm>
          <a:prstGeom prst="roundRect">
            <a:avLst>
              <a:gd name="adj" fmla="val 14754"/>
            </a:avLst>
          </a:prstGeom>
          <a:solidFill>
            <a:srgbClr val="11243b"/>
          </a:solidFill>
          <a:ln w="12700">
            <a:solidFill>
              <a:srgbClr val="11243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70"/>
          <p:cNvSpPr/>
          <p:nvPr/>
        </p:nvSpPr>
        <p:spPr>
          <a:xfrm>
            <a:off x="1280160" y="4370760"/>
            <a:ext cx="360" cy="310680"/>
          </a:xfrm>
          <a:prstGeom prst="line">
            <a:avLst/>
          </a:prstGeom>
          <a:ln w="1397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71"/>
          <p:cNvSpPr/>
          <p:nvPr/>
        </p:nvSpPr>
        <p:spPr>
          <a:xfrm>
            <a:off x="1280160" y="4516920"/>
            <a:ext cx="274320" cy="360"/>
          </a:xfrm>
          <a:prstGeom prst="line">
            <a:avLst/>
          </a:prstGeom>
          <a:ln w="1397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72"/>
          <p:cNvSpPr/>
          <p:nvPr/>
        </p:nvSpPr>
        <p:spPr>
          <a:xfrm>
            <a:off x="1627560" y="4389120"/>
            <a:ext cx="301320" cy="246600"/>
          </a:xfrm>
          <a:prstGeom prst="roundRect">
            <a:avLst>
              <a:gd name="adj" fmla="val 18519"/>
            </a:avLst>
          </a:prstGeom>
          <a:solidFill>
            <a:srgbClr val="13478f"/>
          </a:solidFill>
          <a:ln w="1016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73"/>
          <p:cNvSpPr/>
          <p:nvPr/>
        </p:nvSpPr>
        <p:spPr>
          <a:xfrm>
            <a:off x="1627560" y="4352400"/>
            <a:ext cx="127800" cy="63720"/>
          </a:xfrm>
          <a:prstGeom prst="roundRect">
            <a:avLst>
              <a:gd name="adj" fmla="val 25714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74"/>
          <p:cNvSpPr/>
          <p:nvPr/>
        </p:nvSpPr>
        <p:spPr>
          <a:xfrm>
            <a:off x="2039040" y="4334400"/>
            <a:ext cx="24685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710" strike="noStrike" u="none">
                <a:solidFill>
                  <a:srgbClr val="67dbff"/>
                </a:solidFill>
                <a:effectLst/>
                <a:uFillTx/>
                <a:latin typeface="Cascadia Code"/>
                <a:ea typeface="Cascadia Code"/>
              </a:rPr>
              <a:t>comparisons/</a:t>
            </a:r>
            <a:endParaRPr b="0" lang="en-US" sz="1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75"/>
          <p:cNvSpPr/>
          <p:nvPr/>
        </p:nvSpPr>
        <p:spPr>
          <a:xfrm>
            <a:off x="4608720" y="4334400"/>
            <a:ext cx="21484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řízená srovnání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76"/>
          <p:cNvSpPr/>
          <p:nvPr/>
        </p:nvSpPr>
        <p:spPr>
          <a:xfrm>
            <a:off x="969120" y="4937760"/>
            <a:ext cx="5988960" cy="557280"/>
          </a:xfrm>
          <a:prstGeom prst="roundRect">
            <a:avLst>
              <a:gd name="adj" fmla="val 14754"/>
            </a:avLst>
          </a:prstGeom>
          <a:solidFill>
            <a:srgbClr val="0b1930"/>
          </a:solidFill>
          <a:ln w="12700">
            <a:solidFill>
              <a:srgbClr val="0b193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77"/>
          <p:cNvSpPr/>
          <p:nvPr/>
        </p:nvSpPr>
        <p:spPr>
          <a:xfrm>
            <a:off x="1280160" y="5065560"/>
            <a:ext cx="360" cy="311040"/>
          </a:xfrm>
          <a:prstGeom prst="line">
            <a:avLst/>
          </a:prstGeom>
          <a:ln w="1397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78"/>
          <p:cNvSpPr/>
          <p:nvPr/>
        </p:nvSpPr>
        <p:spPr>
          <a:xfrm>
            <a:off x="1280160" y="5212080"/>
            <a:ext cx="274320" cy="360"/>
          </a:xfrm>
          <a:prstGeom prst="line">
            <a:avLst/>
          </a:prstGeom>
          <a:ln w="1397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79"/>
          <p:cNvSpPr/>
          <p:nvPr/>
        </p:nvSpPr>
        <p:spPr>
          <a:xfrm>
            <a:off x="1627560" y="5083920"/>
            <a:ext cx="301320" cy="246600"/>
          </a:xfrm>
          <a:prstGeom prst="roundRect">
            <a:avLst>
              <a:gd name="adj" fmla="val 18519"/>
            </a:avLst>
          </a:prstGeom>
          <a:solidFill>
            <a:srgbClr val="13478f"/>
          </a:solidFill>
          <a:ln w="1016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80"/>
          <p:cNvSpPr/>
          <p:nvPr/>
        </p:nvSpPr>
        <p:spPr>
          <a:xfrm>
            <a:off x="1627560" y="5047560"/>
            <a:ext cx="127800" cy="63720"/>
          </a:xfrm>
          <a:prstGeom prst="roundRect">
            <a:avLst>
              <a:gd name="adj" fmla="val 25714"/>
            </a:avLst>
          </a:prstGeom>
          <a:solidFill>
            <a:srgbClr val="13478f"/>
          </a:solidFill>
          <a:ln w="12700">
            <a:solidFill>
              <a:srgbClr val="13478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360" bIns="93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81"/>
          <p:cNvSpPr/>
          <p:nvPr/>
        </p:nvSpPr>
        <p:spPr>
          <a:xfrm>
            <a:off x="2039040" y="5029200"/>
            <a:ext cx="24685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710" strike="noStrike" u="none">
                <a:solidFill>
                  <a:srgbClr val="67dbff"/>
                </a:solidFill>
                <a:effectLst/>
                <a:uFillTx/>
                <a:latin typeface="Cascadia Code"/>
                <a:ea typeface="Cascadia Code"/>
              </a:rPr>
              <a:t>recommendations/</a:t>
            </a:r>
            <a:endParaRPr b="0" lang="en-US" sz="171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82"/>
          <p:cNvSpPr/>
          <p:nvPr/>
        </p:nvSpPr>
        <p:spPr>
          <a:xfrm>
            <a:off x="4608720" y="5029200"/>
            <a:ext cx="21484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doporučené postupy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83"/>
          <p:cNvSpPr/>
          <p:nvPr/>
        </p:nvSpPr>
        <p:spPr>
          <a:xfrm>
            <a:off x="7708320" y="2020680"/>
            <a:ext cx="3821760" cy="3894840"/>
          </a:xfrm>
          <a:prstGeom prst="roundRect">
            <a:avLst>
              <a:gd name="adj" fmla="val 5024"/>
            </a:avLst>
          </a:prstGeom>
          <a:solidFill>
            <a:srgbClr val="0b1930"/>
          </a:solidFill>
          <a:ln w="1397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84"/>
          <p:cNvSpPr/>
          <p:nvPr/>
        </p:nvSpPr>
        <p:spPr>
          <a:xfrm>
            <a:off x="8988480" y="2249280"/>
            <a:ext cx="1334520" cy="1334520"/>
          </a:xfrm>
          <a:prstGeom prst="ellipse">
            <a:avLst/>
          </a:prstGeom>
          <a:noFill/>
          <a:ln w="16510">
            <a:solidFill>
              <a:srgbClr val="67dbff">
                <a:alpha val="69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85"/>
          <p:cNvSpPr/>
          <p:nvPr/>
        </p:nvSpPr>
        <p:spPr>
          <a:xfrm>
            <a:off x="9372600" y="2633400"/>
            <a:ext cx="566640" cy="566640"/>
          </a:xfrm>
          <a:prstGeom prst="ellipse">
            <a:avLst/>
          </a:prstGeom>
          <a:solidFill>
            <a:srgbClr val="13478f"/>
          </a:solidFill>
          <a:ln w="1651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86"/>
          <p:cNvSpPr/>
          <p:nvPr/>
        </p:nvSpPr>
        <p:spPr>
          <a:xfrm>
            <a:off x="9564480" y="2825640"/>
            <a:ext cx="182520" cy="182520"/>
          </a:xfrm>
          <a:prstGeom prst="ellipse">
            <a:avLst/>
          </a:prstGeom>
          <a:solidFill>
            <a:srgbClr val="67dbff"/>
          </a:solidFill>
          <a:ln w="12700">
            <a:solidFill>
              <a:srgbClr val="07122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87"/>
          <p:cNvSpPr/>
          <p:nvPr/>
        </p:nvSpPr>
        <p:spPr>
          <a:xfrm>
            <a:off x="10030680" y="2916720"/>
            <a:ext cx="164880" cy="360"/>
          </a:xfrm>
          <a:prstGeom prst="line">
            <a:avLst/>
          </a:prstGeom>
          <a:ln w="2413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88"/>
          <p:cNvSpPr/>
          <p:nvPr/>
        </p:nvSpPr>
        <p:spPr>
          <a:xfrm>
            <a:off x="9920880" y="3181680"/>
            <a:ext cx="116640" cy="116640"/>
          </a:xfrm>
          <a:prstGeom prst="line">
            <a:avLst/>
          </a:prstGeom>
          <a:ln w="2413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89"/>
          <p:cNvSpPr/>
          <p:nvPr/>
        </p:nvSpPr>
        <p:spPr>
          <a:xfrm>
            <a:off x="9655920" y="3291840"/>
            <a:ext cx="360" cy="164520"/>
          </a:xfrm>
          <a:prstGeom prst="line">
            <a:avLst/>
          </a:prstGeom>
          <a:ln w="2413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90"/>
          <p:cNvSpPr/>
          <p:nvPr/>
        </p:nvSpPr>
        <p:spPr>
          <a:xfrm flipH="1">
            <a:off x="9274320" y="3181680"/>
            <a:ext cx="116640" cy="116640"/>
          </a:xfrm>
          <a:prstGeom prst="line">
            <a:avLst/>
          </a:prstGeom>
          <a:ln w="2413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91"/>
          <p:cNvSpPr/>
          <p:nvPr/>
        </p:nvSpPr>
        <p:spPr>
          <a:xfrm flipH="1">
            <a:off x="9116280" y="2916720"/>
            <a:ext cx="164880" cy="360"/>
          </a:xfrm>
          <a:prstGeom prst="line">
            <a:avLst/>
          </a:prstGeom>
          <a:ln w="2413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92"/>
          <p:cNvSpPr/>
          <p:nvPr/>
        </p:nvSpPr>
        <p:spPr>
          <a:xfrm flipH="1" flipV="1">
            <a:off x="9274320" y="2535120"/>
            <a:ext cx="116640" cy="116640"/>
          </a:xfrm>
          <a:prstGeom prst="line">
            <a:avLst/>
          </a:prstGeom>
          <a:ln w="2413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93"/>
          <p:cNvSpPr/>
          <p:nvPr/>
        </p:nvSpPr>
        <p:spPr>
          <a:xfrm flipV="1">
            <a:off x="9655920" y="2377440"/>
            <a:ext cx="360" cy="164520"/>
          </a:xfrm>
          <a:prstGeom prst="line">
            <a:avLst/>
          </a:prstGeom>
          <a:ln w="2413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94"/>
          <p:cNvSpPr/>
          <p:nvPr/>
        </p:nvSpPr>
        <p:spPr>
          <a:xfrm flipV="1">
            <a:off x="9920880" y="2535120"/>
            <a:ext cx="116640" cy="116640"/>
          </a:xfrm>
          <a:prstGeom prst="line">
            <a:avLst/>
          </a:prstGeom>
          <a:ln w="2413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95"/>
          <p:cNvSpPr/>
          <p:nvPr/>
        </p:nvSpPr>
        <p:spPr>
          <a:xfrm>
            <a:off x="7982640" y="3831480"/>
            <a:ext cx="327312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METODA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96"/>
          <p:cNvSpPr/>
          <p:nvPr/>
        </p:nvSpPr>
        <p:spPr>
          <a:xfrm>
            <a:off x="7982640" y="4251960"/>
            <a:ext cx="327312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67dbff"/>
                </a:solidFill>
                <a:effectLst/>
                <a:uFillTx/>
                <a:latin typeface="Inter Display"/>
                <a:ea typeface="Inter Display"/>
              </a:rPr>
              <a:t>NE OBSAH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97"/>
          <p:cNvSpPr/>
          <p:nvPr/>
        </p:nvSpPr>
        <p:spPr>
          <a:xfrm>
            <a:off x="8028360" y="4928760"/>
            <a:ext cx="317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Sdílíme zkušenosti s postupem.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Ne celé prompty a odpovědi.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98"/>
          <p:cNvSpPr/>
          <p:nvPr/>
        </p:nvSpPr>
        <p:spPr>
          <a:xfrm>
            <a:off x="8330040" y="5568840"/>
            <a:ext cx="26881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111" strike="noStrike" u="none">
                <a:solidFill>
                  <a:srgbClr val="ffda86"/>
                </a:solidFill>
                <a:effectLst/>
                <a:uFillTx/>
                <a:latin typeface="Inter"/>
                <a:ea typeface="Inter"/>
              </a:rPr>
              <a:t>GIT  PULL  ↔  PUSH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2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Shape 0"/>
          <p:cNvSpPr/>
          <p:nvPr/>
        </p:nvSpPr>
        <p:spPr>
          <a:xfrm>
            <a:off x="5029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1"/>
          <p:cNvSpPr/>
          <p:nvPr/>
        </p:nvSpPr>
        <p:spPr>
          <a:xfrm>
            <a:off x="1042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2"/>
          <p:cNvSpPr/>
          <p:nvPr/>
        </p:nvSpPr>
        <p:spPr>
          <a:xfrm>
            <a:off x="1581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3"/>
          <p:cNvSpPr/>
          <p:nvPr/>
        </p:nvSpPr>
        <p:spPr>
          <a:xfrm>
            <a:off x="21211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4"/>
          <p:cNvSpPr/>
          <p:nvPr/>
        </p:nvSpPr>
        <p:spPr>
          <a:xfrm>
            <a:off x="26607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5"/>
          <p:cNvSpPr/>
          <p:nvPr/>
        </p:nvSpPr>
        <p:spPr>
          <a:xfrm>
            <a:off x="32004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6"/>
          <p:cNvSpPr/>
          <p:nvPr/>
        </p:nvSpPr>
        <p:spPr>
          <a:xfrm>
            <a:off x="37396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7"/>
          <p:cNvSpPr/>
          <p:nvPr/>
        </p:nvSpPr>
        <p:spPr>
          <a:xfrm>
            <a:off x="42793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8"/>
          <p:cNvSpPr/>
          <p:nvPr/>
        </p:nvSpPr>
        <p:spPr>
          <a:xfrm>
            <a:off x="48186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9"/>
          <p:cNvSpPr/>
          <p:nvPr/>
        </p:nvSpPr>
        <p:spPr>
          <a:xfrm>
            <a:off x="53582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10"/>
          <p:cNvSpPr/>
          <p:nvPr/>
        </p:nvSpPr>
        <p:spPr>
          <a:xfrm>
            <a:off x="58978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11"/>
          <p:cNvSpPr/>
          <p:nvPr/>
        </p:nvSpPr>
        <p:spPr>
          <a:xfrm>
            <a:off x="64371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12"/>
          <p:cNvSpPr/>
          <p:nvPr/>
        </p:nvSpPr>
        <p:spPr>
          <a:xfrm>
            <a:off x="69768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13"/>
          <p:cNvSpPr/>
          <p:nvPr/>
        </p:nvSpPr>
        <p:spPr>
          <a:xfrm>
            <a:off x="75160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14"/>
          <p:cNvSpPr/>
          <p:nvPr/>
        </p:nvSpPr>
        <p:spPr>
          <a:xfrm>
            <a:off x="805572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15"/>
          <p:cNvSpPr/>
          <p:nvPr/>
        </p:nvSpPr>
        <p:spPr>
          <a:xfrm>
            <a:off x="85953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16"/>
          <p:cNvSpPr/>
          <p:nvPr/>
        </p:nvSpPr>
        <p:spPr>
          <a:xfrm>
            <a:off x="91346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17"/>
          <p:cNvSpPr/>
          <p:nvPr/>
        </p:nvSpPr>
        <p:spPr>
          <a:xfrm>
            <a:off x="967428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18"/>
          <p:cNvSpPr/>
          <p:nvPr/>
        </p:nvSpPr>
        <p:spPr>
          <a:xfrm>
            <a:off x="1021356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19"/>
          <p:cNvSpPr/>
          <p:nvPr/>
        </p:nvSpPr>
        <p:spPr>
          <a:xfrm>
            <a:off x="1075320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20"/>
          <p:cNvSpPr/>
          <p:nvPr/>
        </p:nvSpPr>
        <p:spPr>
          <a:xfrm>
            <a:off x="11292840" y="749520"/>
            <a:ext cx="360" cy="565128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21"/>
          <p:cNvSpPr/>
          <p:nvPr/>
        </p:nvSpPr>
        <p:spPr>
          <a:xfrm>
            <a:off x="502920" y="7772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22"/>
          <p:cNvSpPr/>
          <p:nvPr/>
        </p:nvSpPr>
        <p:spPr>
          <a:xfrm>
            <a:off x="502920" y="13165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23"/>
          <p:cNvSpPr/>
          <p:nvPr/>
        </p:nvSpPr>
        <p:spPr>
          <a:xfrm>
            <a:off x="502920" y="18561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24"/>
          <p:cNvSpPr/>
          <p:nvPr/>
        </p:nvSpPr>
        <p:spPr>
          <a:xfrm>
            <a:off x="502920" y="23954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25"/>
          <p:cNvSpPr/>
          <p:nvPr/>
        </p:nvSpPr>
        <p:spPr>
          <a:xfrm>
            <a:off x="502920" y="293508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26"/>
          <p:cNvSpPr/>
          <p:nvPr/>
        </p:nvSpPr>
        <p:spPr>
          <a:xfrm>
            <a:off x="502920" y="34747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27"/>
          <p:cNvSpPr/>
          <p:nvPr/>
        </p:nvSpPr>
        <p:spPr>
          <a:xfrm>
            <a:off x="502920" y="40140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28"/>
          <p:cNvSpPr/>
          <p:nvPr/>
        </p:nvSpPr>
        <p:spPr>
          <a:xfrm>
            <a:off x="502920" y="455364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29"/>
          <p:cNvSpPr/>
          <p:nvPr/>
        </p:nvSpPr>
        <p:spPr>
          <a:xfrm>
            <a:off x="502920" y="509292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30"/>
          <p:cNvSpPr/>
          <p:nvPr/>
        </p:nvSpPr>
        <p:spPr>
          <a:xfrm>
            <a:off x="502920" y="563256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31"/>
          <p:cNvSpPr/>
          <p:nvPr/>
        </p:nvSpPr>
        <p:spPr>
          <a:xfrm>
            <a:off x="502920" y="6172200"/>
            <a:ext cx="11265120" cy="360"/>
          </a:xfrm>
          <a:prstGeom prst="line">
            <a:avLst/>
          </a:prstGeom>
          <a:ln w="4064">
            <a:solidFill>
              <a:srgbClr val="294159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32"/>
          <p:cNvSpPr/>
          <p:nvPr/>
        </p:nvSpPr>
        <p:spPr>
          <a:xfrm>
            <a:off x="0" y="0"/>
            <a:ext cx="12191760" cy="7272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33"/>
          <p:cNvSpPr/>
          <p:nvPr/>
        </p:nvSpPr>
        <p:spPr>
          <a:xfrm>
            <a:off x="548640" y="246960"/>
            <a:ext cx="319680" cy="319680"/>
          </a:xfrm>
          <a:prstGeom prst="roundRect">
            <a:avLst>
              <a:gd name="adj" fmla="val 28571"/>
            </a:avLst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34"/>
          <p:cNvSpPr/>
          <p:nvPr/>
        </p:nvSpPr>
        <p:spPr>
          <a:xfrm>
            <a:off x="548640" y="246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71223"/>
                </a:solidFill>
                <a:effectLst/>
                <a:uFillTx/>
                <a:latin typeface="Inter Display"/>
                <a:ea typeface="Inter Display"/>
              </a:rPr>
              <a:t>F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35"/>
          <p:cNvSpPr/>
          <p:nvPr/>
        </p:nvSpPr>
        <p:spPr>
          <a:xfrm>
            <a:off x="987480" y="2469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159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FRANKENSTEIN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36"/>
          <p:cNvSpPr/>
          <p:nvPr/>
        </p:nvSpPr>
        <p:spPr>
          <a:xfrm>
            <a:off x="8321040" y="265320"/>
            <a:ext cx="32457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000" spc="99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06  /  STAV A DALŠÍ KROK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37"/>
          <p:cNvSpPr/>
          <p:nvPr/>
        </p:nvSpPr>
        <p:spPr>
          <a:xfrm>
            <a:off x="640080" y="6656760"/>
            <a:ext cx="10908720" cy="360"/>
          </a:xfrm>
          <a:prstGeom prst="line">
            <a:avLst/>
          </a:prstGeom>
          <a:ln w="10160">
            <a:solidFill>
              <a:srgbClr val="1c35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38"/>
          <p:cNvSpPr/>
          <p:nvPr/>
        </p:nvSpPr>
        <p:spPr>
          <a:xfrm>
            <a:off x="64008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39"/>
          <p:cNvSpPr/>
          <p:nvPr/>
        </p:nvSpPr>
        <p:spPr>
          <a:xfrm>
            <a:off x="212256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40"/>
          <p:cNvSpPr/>
          <p:nvPr/>
        </p:nvSpPr>
        <p:spPr>
          <a:xfrm>
            <a:off x="360540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41"/>
          <p:cNvSpPr/>
          <p:nvPr/>
        </p:nvSpPr>
        <p:spPr>
          <a:xfrm>
            <a:off x="508788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42"/>
          <p:cNvSpPr/>
          <p:nvPr/>
        </p:nvSpPr>
        <p:spPr>
          <a:xfrm>
            <a:off x="657072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43"/>
          <p:cNvSpPr/>
          <p:nvPr/>
        </p:nvSpPr>
        <p:spPr>
          <a:xfrm>
            <a:off x="805320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44"/>
          <p:cNvSpPr/>
          <p:nvPr/>
        </p:nvSpPr>
        <p:spPr>
          <a:xfrm>
            <a:off x="9536040" y="6684120"/>
            <a:ext cx="1445760" cy="3348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1160" bIns="-111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45"/>
          <p:cNvSpPr/>
          <p:nvPr/>
        </p:nvSpPr>
        <p:spPr>
          <a:xfrm>
            <a:off x="10607040" y="648324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939" spc="150" strike="noStrike" u="none">
                <a:solidFill>
                  <a:srgbClr val="7c9ab4"/>
                </a:solidFill>
                <a:effectLst/>
                <a:uFillTx/>
                <a:latin typeface="Inter"/>
                <a:ea typeface="Inter"/>
              </a:rPr>
              <a:t>07  /  07</a:t>
            </a:r>
            <a:endParaRPr b="0" lang="en-US" sz="93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46"/>
          <p:cNvSpPr/>
          <p:nvPr/>
        </p:nvSpPr>
        <p:spPr>
          <a:xfrm>
            <a:off x="9445680" y="182880"/>
            <a:ext cx="2596680" cy="2596680"/>
          </a:xfrm>
          <a:prstGeom prst="ellipse">
            <a:avLst/>
          </a:prstGeom>
          <a:noFill/>
          <a:ln w="20320">
            <a:solidFill>
              <a:srgbClr val="428b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47"/>
          <p:cNvSpPr/>
          <p:nvPr/>
        </p:nvSpPr>
        <p:spPr>
          <a:xfrm>
            <a:off x="9875520" y="612720"/>
            <a:ext cx="1737000" cy="1737000"/>
          </a:xfrm>
          <a:prstGeom prst="ellipse">
            <a:avLst/>
          </a:prstGeom>
          <a:noFill/>
          <a:ln w="12700">
            <a:solidFill>
              <a:srgbClr val="67dbff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48"/>
          <p:cNvSpPr/>
          <p:nvPr/>
        </p:nvSpPr>
        <p:spPr>
          <a:xfrm>
            <a:off x="704160" y="887040"/>
            <a:ext cx="3337200" cy="402120"/>
          </a:xfrm>
          <a:prstGeom prst="roundRect">
            <a:avLst>
              <a:gd name="adj" fmla="val 43000"/>
            </a:avLst>
          </a:prstGeom>
          <a:solidFill>
            <a:srgbClr val="0b1930"/>
          </a:solidFill>
          <a:ln w="10160">
            <a:solidFill>
              <a:srgbClr val="67d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49"/>
          <p:cNvSpPr/>
          <p:nvPr/>
        </p:nvSpPr>
        <p:spPr>
          <a:xfrm>
            <a:off x="822960" y="887040"/>
            <a:ext cx="3099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220" spc="99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FRANKENSTEIN  /  V0.4</a:t>
            </a:r>
            <a:endParaRPr b="0" lang="en-US" sz="12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50"/>
          <p:cNvSpPr/>
          <p:nvPr/>
        </p:nvSpPr>
        <p:spPr>
          <a:xfrm>
            <a:off x="667440" y="1463040"/>
            <a:ext cx="1060668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90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Funkční základ.</a:t>
            </a:r>
            <a:endParaRPr b="0" lang="en-US" sz="4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51"/>
          <p:cNvSpPr/>
          <p:nvPr/>
        </p:nvSpPr>
        <p:spPr>
          <a:xfrm>
            <a:off x="667440" y="2148840"/>
            <a:ext cx="10606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100" strike="noStrike" u="none">
                <a:solidFill>
                  <a:srgbClr val="67dbff"/>
                </a:solidFill>
                <a:effectLst/>
                <a:uFillTx/>
                <a:latin typeface="Inter Display"/>
                <a:ea typeface="Inter Display"/>
              </a:rPr>
              <a:t>Připravený růst.</a:t>
            </a:r>
            <a:endParaRPr b="0" lang="en-US" sz="4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52"/>
          <p:cNvSpPr/>
          <p:nvPr/>
        </p:nvSpPr>
        <p:spPr>
          <a:xfrm>
            <a:off x="685800" y="3017520"/>
            <a:ext cx="3511080" cy="1828440"/>
          </a:xfrm>
          <a:prstGeom prst="roundRect">
            <a:avLst>
              <a:gd name="adj" fmla="val 9500"/>
            </a:avLst>
          </a:prstGeom>
          <a:solidFill>
            <a:srgbClr val="11243b">
              <a:alpha val="96000"/>
            </a:srgbClr>
          </a:solidFill>
          <a:ln w="1270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53"/>
          <p:cNvSpPr/>
          <p:nvPr/>
        </p:nvSpPr>
        <p:spPr>
          <a:xfrm>
            <a:off x="685800" y="3017520"/>
            <a:ext cx="3511080" cy="63720"/>
          </a:xfrm>
          <a:prstGeom prst="rect">
            <a:avLst/>
          </a:prstGeom>
          <a:solidFill>
            <a:srgbClr val="6ae7c6"/>
          </a:solidFill>
          <a:ln w="12700">
            <a:solidFill>
              <a:srgbClr val="6ae7c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54"/>
          <p:cNvSpPr/>
          <p:nvPr/>
        </p:nvSpPr>
        <p:spPr>
          <a:xfrm>
            <a:off x="877680" y="328284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6ae7c6"/>
                </a:solidFill>
                <a:effectLst/>
                <a:uFillTx/>
                <a:latin typeface="Inter Display"/>
                <a:ea typeface="Inter Display"/>
              </a:rPr>
              <a:t>93 / 93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55"/>
          <p:cNvSpPr/>
          <p:nvPr/>
        </p:nvSpPr>
        <p:spPr>
          <a:xfrm>
            <a:off x="905400" y="400500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40" spc="6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DETERMINISTICKÝCH</a:t>
            </a:r>
            <a:endParaRPr b="0" lang="en-US" sz="14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56"/>
          <p:cNvSpPr/>
          <p:nvPr/>
        </p:nvSpPr>
        <p:spPr>
          <a:xfrm>
            <a:off x="905400" y="4316040"/>
            <a:ext cx="3108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2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TESTŮ ÚSPĚŠNĚ</a:t>
            </a:r>
            <a:endParaRPr b="0" lang="en-US" sz="14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57"/>
          <p:cNvSpPr/>
          <p:nvPr/>
        </p:nvSpPr>
        <p:spPr>
          <a:xfrm>
            <a:off x="4297680" y="3017520"/>
            <a:ext cx="3511080" cy="1828440"/>
          </a:xfrm>
          <a:prstGeom prst="roundRect">
            <a:avLst>
              <a:gd name="adj" fmla="val 9500"/>
            </a:avLst>
          </a:prstGeom>
          <a:solidFill>
            <a:srgbClr val="11243b">
              <a:alpha val="96000"/>
            </a:srgbClr>
          </a:solidFill>
          <a:ln w="1270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58"/>
          <p:cNvSpPr/>
          <p:nvPr/>
        </p:nvSpPr>
        <p:spPr>
          <a:xfrm>
            <a:off x="4297680" y="3017520"/>
            <a:ext cx="3511080" cy="6372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59"/>
          <p:cNvSpPr/>
          <p:nvPr/>
        </p:nvSpPr>
        <p:spPr>
          <a:xfrm>
            <a:off x="4489560" y="328284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510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10</a:t>
            </a:r>
            <a:endParaRPr b="0" lang="en-US" sz="5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60"/>
          <p:cNvSpPr/>
          <p:nvPr/>
        </p:nvSpPr>
        <p:spPr>
          <a:xfrm>
            <a:off x="4517280" y="400500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40" spc="6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VÝCHOZÍCH</a:t>
            </a:r>
            <a:endParaRPr b="0" lang="en-US" sz="14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61"/>
          <p:cNvSpPr/>
          <p:nvPr/>
        </p:nvSpPr>
        <p:spPr>
          <a:xfrm>
            <a:off x="4517280" y="4316040"/>
            <a:ext cx="3108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2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HLEDISEK H1–H10</a:t>
            </a:r>
            <a:endParaRPr b="0" lang="en-US" sz="14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62"/>
          <p:cNvSpPr/>
          <p:nvPr/>
        </p:nvSpPr>
        <p:spPr>
          <a:xfrm>
            <a:off x="7909560" y="3017520"/>
            <a:ext cx="3511080" cy="1828440"/>
          </a:xfrm>
          <a:prstGeom prst="roundRect">
            <a:avLst>
              <a:gd name="adj" fmla="val 9500"/>
            </a:avLst>
          </a:prstGeom>
          <a:solidFill>
            <a:srgbClr val="11243b">
              <a:alpha val="96000"/>
            </a:srgbClr>
          </a:solidFill>
          <a:ln w="12700">
            <a:solidFill>
              <a:srgbClr val="2a45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63"/>
          <p:cNvSpPr/>
          <p:nvPr/>
        </p:nvSpPr>
        <p:spPr>
          <a:xfrm>
            <a:off x="7909560" y="3017520"/>
            <a:ext cx="3511080" cy="63720"/>
          </a:xfrm>
          <a:prstGeom prst="rect">
            <a:avLst/>
          </a:prstGeom>
          <a:solidFill>
            <a:srgbClr val="428bff"/>
          </a:solidFill>
          <a:ln w="12700">
            <a:solidFill>
              <a:srgbClr val="428b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64"/>
          <p:cNvSpPr/>
          <p:nvPr/>
        </p:nvSpPr>
        <p:spPr>
          <a:xfrm>
            <a:off x="8101440" y="328284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5100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≥ 2</a:t>
            </a:r>
            <a:endParaRPr b="0" lang="en-US" sz="5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65"/>
          <p:cNvSpPr/>
          <p:nvPr/>
        </p:nvSpPr>
        <p:spPr>
          <a:xfrm>
            <a:off x="8129160" y="400500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40" spc="6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SROVNÁNÍ</a:t>
            </a:r>
            <a:endParaRPr b="0" lang="en-US" sz="144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66"/>
          <p:cNvSpPr/>
          <p:nvPr/>
        </p:nvSpPr>
        <p:spPr>
          <a:xfrm>
            <a:off x="8129160" y="4316040"/>
            <a:ext cx="31086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2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K OVĚŘENÍ ZKUŠENOSTI</a:t>
            </a:r>
            <a:endParaRPr b="0" lang="en-US" sz="142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67"/>
          <p:cNvSpPr/>
          <p:nvPr/>
        </p:nvSpPr>
        <p:spPr>
          <a:xfrm>
            <a:off x="704160" y="5139000"/>
            <a:ext cx="10689120" cy="566640"/>
          </a:xfrm>
          <a:prstGeom prst="roundRect">
            <a:avLst>
              <a:gd name="adj" fmla="val 20968"/>
            </a:avLst>
          </a:prstGeom>
          <a:solidFill>
            <a:srgbClr val="0b1930"/>
          </a:solidFill>
          <a:ln w="10160">
            <a:solidFill>
              <a:srgbClr val="428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68"/>
          <p:cNvSpPr/>
          <p:nvPr/>
        </p:nvSpPr>
        <p:spPr>
          <a:xfrm>
            <a:off x="923400" y="5285160"/>
            <a:ext cx="15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30" spc="60" strike="noStrike" u="none">
                <a:solidFill>
                  <a:srgbClr val="67dbff"/>
                </a:solidFill>
                <a:effectLst/>
                <a:uFillTx/>
                <a:latin typeface="Inter"/>
                <a:ea typeface="Inter"/>
              </a:rPr>
              <a:t>DALŠÍ KROK</a:t>
            </a:r>
            <a:endParaRPr b="0" lang="en-US" sz="143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69"/>
          <p:cNvSpPr/>
          <p:nvPr/>
        </p:nvSpPr>
        <p:spPr>
          <a:xfrm>
            <a:off x="2633400" y="5212080"/>
            <a:ext cx="82292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7fbff"/>
                </a:solidFill>
                <a:effectLst/>
                <a:uFillTx/>
                <a:latin typeface="Inter"/>
                <a:ea typeface="Inter"/>
              </a:rPr>
              <a:t>Lokální model   →   řízené experimenty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70"/>
          <p:cNvSpPr/>
          <p:nvPr/>
        </p:nvSpPr>
        <p:spPr>
          <a:xfrm>
            <a:off x="731520" y="5998320"/>
            <a:ext cx="24958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850" spc="71" strike="noStrike" u="none">
                <a:solidFill>
                  <a:srgbClr val="f7fbff"/>
                </a:solidFill>
                <a:effectLst/>
                <a:uFillTx/>
                <a:latin typeface="Inter Display"/>
                <a:ea typeface="Inter Display"/>
              </a:rPr>
              <a:t>DĚKUJEME</a:t>
            </a:r>
            <a:endParaRPr b="0" lang="en-US" sz="1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71"/>
          <p:cNvSpPr/>
          <p:nvPr/>
        </p:nvSpPr>
        <p:spPr>
          <a:xfrm>
            <a:off x="3657600" y="6007680"/>
            <a:ext cx="75981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90" strike="noStrike" u="none">
                <a:solidFill>
                  <a:srgbClr val="a8c2d9"/>
                </a:solidFill>
                <a:effectLst/>
                <a:uFillTx/>
                <a:latin typeface="Inter"/>
                <a:ea typeface="Inter"/>
              </a:rPr>
              <a:t>AISHA   ·   Zdeněk Bělka   ·   Ladislav Habásko   ·   Martin Landa</a:t>
            </a:r>
            <a:endParaRPr b="0" lang="en-US" sz="139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Aisha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2026-10-09T04:44:50Z</dcterms:created>
  <dc:creator>Tým Aisha</dc:creator>
  <dc:description/>
  <dc:language>en-US</dc:language>
  <cp:lastModifiedBy>Tým Aisha</cp:lastModifiedBy>
  <dcterms:modified xsi:type="dcterms:W3CDTF">2026-10-09T04:44:50Z</dcterms:modified>
  <cp:revision>1</cp:revision>
  <dc:subject>FRANKENSTEIN v0.4 — autonomní cyklus a adaptivní učení</dc:subject>
  <dc:title>FRANKENSTEIN — Aisha / 90 sekund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7</vt:r8>
  </property>
  <property fmtid="{D5CDD505-2E9C-101B-9397-08002B2CF9AE}" pid="3" name="PresentationFormat">
    <vt:lpwstr>On-screen Show (16:9)</vt:lpwstr>
  </property>
  <property fmtid="{D5CDD505-2E9C-101B-9397-08002B2CF9AE}" pid="4" name="Slides">
    <vt:r8>7</vt:r8>
  </property>
</Properties>
</file>